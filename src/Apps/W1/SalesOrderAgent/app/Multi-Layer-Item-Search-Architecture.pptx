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where the latest item-search improvements fit into the existing flow.</a:t>
            </a:r>
          </a:p>
          <a:p/>
          <a:p>
            <a:r>
              <a:t>We still start with an exact item-number lookup. If that does not find an item, we use the existing catalog discovery: indexed search first, and broader semantic recovery only when indexed search returns no candidates. So broader search is a fallback, not a replacement for indexed search.</a:t>
            </a:r>
          </a:p>
          <a:p/>
          <a:p>
            <a:r>
              <a:t>The key improvement begins when variant interpretation is needed. If an exact item has no variants, we now skip the Item Selector and go directly to availability. Otherwise, the Item Selector receives three inputs: the search query, authoritative item and variant data, and message content as additional context. Together, these help it identify the requested variant or a safe alternative with better confidence.</a:t>
            </a:r>
          </a:p>
          <a:p/>
          <a:p>
            <a:r>
              <a:t>AI proposes the result, but application logic remains in control. AL verifies that the item and variant are valid catalog candidates, checks substitution safety, and then checks availability.</a:t>
            </a:r>
          </a:p>
          <a:p/>
          <a:p>
            <a:r>
              <a:t>The final outcome is the requested item, a safe alternative that requires confirmation, or no result. The main improvement is more accurate variant-aware selection without weakening deterministic business guardrails.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brings the improvement closer to the way customers actually ask for products.</a:t>
            </a:r>
          </a:p>
          <a:p/>
          <a:p>
            <a:r>
              <a:t>In the first scenario, the customer uses an explicit catalog variant: a Fairy Doll with Variant BLUE. We preserve that exact intent and place the BLUE variant on the quote line.</a:t>
            </a:r>
          </a:p>
          <a:p/>
          <a:p>
            <a:r>
              <a:t>In the second scenario, the customer simply asks for a bicycle in black. They do not need to know the variant code. The selector maps the natural-language color to the authoritative BLACK catalog variant.</a:t>
            </a:r>
          </a:p>
          <a:p/>
          <a:p>
            <a:r>
              <a:t>The third scenario shows an important safety boundary. If a customer requests running shoes in size 44, we must not offer size 42 as an alternative. Size affects fit, so it is not interchangeable. If size 44 is unavailable and there is no safe match, we return no result rather than creating an unsuitable quote.</a:t>
            </a:r>
          </a:p>
          <a:p/>
          <a:p>
            <a:r>
              <a:t>In the fourth scenario, the customer asks only for a Fairy Doll and gives no variant preference. We leave the Variant Code blank rather than inventing a color.</a:t>
            </a:r>
          </a:p>
          <a:p/>
          <a:p>
            <a:r>
              <a:t>The fifth scenario demonstrates a safe alternative. If the requested BLUE Fairy Doll is unavailable, the agent can offer one available same-item color, but it waits for customer confirmation and does not silently substitute it.</a:t>
            </a:r>
          </a:p>
          <a:p/>
          <a:p>
            <a:r>
              <a:t>The sixth scenario shows that customer restrictions always take priority. If the customer says no other colors, we do not offer an alternative. If BLUE is unavailable, the result is empty and no quote is created.</a:t>
            </a:r>
          </a:p>
          <a:p/>
          <a:p>
            <a:r>
              <a:t>Together, these scenarios reduce clarification loops, apply the correct variant-specific pricing and availability, and avoid silent guessing or unsafe substitutions.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182880"/>
            <a:ext cx="2103120" cy="182880"/>
          </a:xfrm>
          <a:prstGeom prst="rect">
            <a:avLst/>
          </a:prstGeom>
          <a:noFill/>
        </p:spPr>
        <p:txBody>
          <a:bodyPr wrap="square" lIns="0" rIns="0" tIns="0" bIns="0" anchor="t">
            <a:normAutofit/>
          </a:bodyPr>
          <a:lstStyle/>
          <a:p>
            <a:pPr algn="l">
              <a:spcAft>
                <a:spcPts val="0"/>
              </a:spcAft>
            </a:pPr>
            <a:r>
              <a:rPr sz="950" b="1">
                <a:solidFill>
                  <a:srgbClr val="17827A"/>
                </a:solidFill>
                <a:latin typeface="Aptos"/>
              </a:rPr>
              <a:t>SALES ORDER AGENT</a:t>
            </a:r>
          </a:p>
        </p:txBody>
      </p:sp>
      <p:sp>
        <p:nvSpPr>
          <p:cNvPr id="3" name="TextBox 2"/>
          <p:cNvSpPr txBox="1"/>
          <p:nvPr/>
        </p:nvSpPr>
        <p:spPr>
          <a:xfrm>
            <a:off x="502920" y="438912"/>
            <a:ext cx="7680960" cy="402336"/>
          </a:xfrm>
          <a:prstGeom prst="rect">
            <a:avLst/>
          </a:prstGeom>
          <a:noFill/>
        </p:spPr>
        <p:txBody>
          <a:bodyPr wrap="square" lIns="0" rIns="0" tIns="0" bIns="0" anchor="t">
            <a:normAutofit/>
          </a:bodyPr>
          <a:lstStyle/>
          <a:p>
            <a:pPr algn="l">
              <a:spcAft>
                <a:spcPts val="0"/>
              </a:spcAft>
            </a:pPr>
            <a:r>
              <a:rPr sz="2500" b="1">
                <a:solidFill>
                  <a:srgbClr val="17233C"/>
                </a:solidFill>
                <a:latin typeface="Aptos"/>
              </a:rPr>
              <a:t>What Changed in Item Search</a:t>
            </a:r>
          </a:p>
        </p:txBody>
      </p:sp>
      <p:sp>
        <p:nvSpPr>
          <p:cNvPr id="4" name="TextBox 3"/>
          <p:cNvSpPr txBox="1"/>
          <p:nvPr/>
        </p:nvSpPr>
        <p:spPr>
          <a:xfrm>
            <a:off x="502920" y="896112"/>
            <a:ext cx="8412480" cy="246888"/>
          </a:xfrm>
          <a:prstGeom prst="rect">
            <a:avLst/>
          </a:prstGeom>
          <a:noFill/>
        </p:spPr>
        <p:txBody>
          <a:bodyPr wrap="square" lIns="0" rIns="0" tIns="0" bIns="0" anchor="t">
            <a:normAutofit/>
          </a:bodyPr>
          <a:lstStyle/>
          <a:p>
            <a:pPr algn="l">
              <a:spcAft>
                <a:spcPts val="0"/>
              </a:spcAft>
            </a:pPr>
            <a:r>
              <a:rPr sz="1200" b="0">
                <a:solidFill>
                  <a:srgbClr val="627086"/>
                </a:solidFill>
                <a:latin typeface="Aptos"/>
              </a:rPr>
              <a:t>Existing discovery now supports variant-aware selection and validation.</a:t>
            </a:r>
          </a:p>
        </p:txBody>
      </p:sp>
      <p:sp>
        <p:nvSpPr>
          <p:cNvPr id="5" name="Oval 4"/>
          <p:cNvSpPr/>
          <p:nvPr/>
        </p:nvSpPr>
        <p:spPr>
          <a:xfrm>
            <a:off x="1874519" y="1252728"/>
            <a:ext cx="274320" cy="274320"/>
          </a:xfrm>
          <a:prstGeom prst="ellipse">
            <a:avLst/>
          </a:prstGeom>
          <a:solidFill>
            <a:srgbClr val="315B7D"/>
          </a:solidFill>
          <a:ln>
            <a:solidFill>
              <a:srgbClr val="315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74519" y="1252728"/>
            <a:ext cx="274320" cy="274320"/>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1</a:t>
            </a:r>
          </a:p>
        </p:txBody>
      </p:sp>
      <p:sp>
        <p:nvSpPr>
          <p:cNvPr id="7" name="TextBox 6"/>
          <p:cNvSpPr txBox="1"/>
          <p:nvPr/>
        </p:nvSpPr>
        <p:spPr>
          <a:xfrm>
            <a:off x="2258568" y="1261872"/>
            <a:ext cx="2743200" cy="256032"/>
          </a:xfrm>
          <a:prstGeom prst="rect">
            <a:avLst/>
          </a:prstGeom>
          <a:noFill/>
        </p:spPr>
        <p:txBody>
          <a:bodyPr wrap="square" lIns="0" rIns="0" tIns="0" bIns="0" anchor="ctr">
            <a:normAutofit/>
          </a:bodyPr>
          <a:lstStyle/>
          <a:p>
            <a:pPr algn="l">
              <a:spcAft>
                <a:spcPts val="0"/>
              </a:spcAft>
            </a:pPr>
            <a:r>
              <a:rPr sz="1050" b="1">
                <a:solidFill>
                  <a:srgbClr val="315B7D"/>
                </a:solidFill>
                <a:latin typeface="Aptos"/>
              </a:rPr>
              <a:t>DISCOVER (EXISTING)</a:t>
            </a:r>
          </a:p>
        </p:txBody>
      </p:sp>
      <p:cxnSp>
        <p:nvCxnSpPr>
          <p:cNvPr id="8" name="Connector 7"/>
          <p:cNvCxnSpPr/>
          <p:nvPr/>
        </p:nvCxnSpPr>
        <p:spPr>
          <a:xfrm>
            <a:off x="1874519" y="1627632"/>
            <a:ext cx="3127249" cy="0"/>
          </a:xfrm>
          <a:prstGeom prst="line">
            <a:avLst/>
          </a:prstGeom>
          <a:ln w="12700">
            <a:solidFill>
              <a:srgbClr val="D6DFEA"/>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5120640" y="1252728"/>
            <a:ext cx="274320" cy="274320"/>
          </a:xfrm>
          <a:prstGeom prst="ellipse">
            <a:avLst/>
          </a:prstGeom>
          <a:solidFill>
            <a:srgbClr val="17827A"/>
          </a:solidFill>
          <a:ln>
            <a:solidFill>
              <a:srgbClr val="178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1252728"/>
            <a:ext cx="274320" cy="274320"/>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2</a:t>
            </a:r>
          </a:p>
        </p:txBody>
      </p:sp>
      <p:sp>
        <p:nvSpPr>
          <p:cNvPr id="11" name="TextBox 10"/>
          <p:cNvSpPr txBox="1"/>
          <p:nvPr/>
        </p:nvSpPr>
        <p:spPr>
          <a:xfrm>
            <a:off x="5504688" y="1261872"/>
            <a:ext cx="1901952" cy="256032"/>
          </a:xfrm>
          <a:prstGeom prst="rect">
            <a:avLst/>
          </a:prstGeom>
          <a:noFill/>
        </p:spPr>
        <p:txBody>
          <a:bodyPr wrap="square" lIns="0" rIns="0" tIns="0" bIns="0" anchor="ctr">
            <a:normAutofit/>
          </a:bodyPr>
          <a:lstStyle/>
          <a:p>
            <a:pPr algn="l">
              <a:spcAft>
                <a:spcPts val="0"/>
              </a:spcAft>
            </a:pPr>
            <a:r>
              <a:rPr sz="1050" b="1">
                <a:solidFill>
                  <a:srgbClr val="17827A"/>
                </a:solidFill>
                <a:latin typeface="Aptos"/>
              </a:rPr>
              <a:t>RESOLVE (NEW)</a:t>
            </a:r>
          </a:p>
        </p:txBody>
      </p:sp>
      <p:cxnSp>
        <p:nvCxnSpPr>
          <p:cNvPr id="12" name="Connector 11"/>
          <p:cNvCxnSpPr/>
          <p:nvPr/>
        </p:nvCxnSpPr>
        <p:spPr>
          <a:xfrm>
            <a:off x="5120640" y="1627632"/>
            <a:ext cx="2286000" cy="0"/>
          </a:xfrm>
          <a:prstGeom prst="line">
            <a:avLst/>
          </a:prstGeom>
          <a:ln w="12700">
            <a:solidFill>
              <a:srgbClr val="D6DFEA"/>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543800" y="1252728"/>
            <a:ext cx="274320" cy="274320"/>
          </a:xfrm>
          <a:prstGeom prst="ellipse">
            <a:avLst/>
          </a:prstGeom>
          <a:solidFill>
            <a:srgbClr val="C87922"/>
          </a:solidFill>
          <a:ln>
            <a:solidFill>
              <a:srgbClr val="C87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43800" y="1252728"/>
            <a:ext cx="274320" cy="274320"/>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3</a:t>
            </a:r>
          </a:p>
        </p:txBody>
      </p:sp>
      <p:sp>
        <p:nvSpPr>
          <p:cNvPr id="15" name="TextBox 14"/>
          <p:cNvSpPr txBox="1"/>
          <p:nvPr/>
        </p:nvSpPr>
        <p:spPr>
          <a:xfrm>
            <a:off x="7927848" y="1261872"/>
            <a:ext cx="1362456" cy="256032"/>
          </a:xfrm>
          <a:prstGeom prst="rect">
            <a:avLst/>
          </a:prstGeom>
          <a:noFill/>
        </p:spPr>
        <p:txBody>
          <a:bodyPr wrap="square" lIns="0" rIns="0" tIns="0" bIns="0" anchor="ctr">
            <a:normAutofit/>
          </a:bodyPr>
          <a:lstStyle/>
          <a:p>
            <a:pPr algn="l">
              <a:spcAft>
                <a:spcPts val="0"/>
              </a:spcAft>
            </a:pPr>
            <a:r>
              <a:rPr sz="1050" b="1">
                <a:solidFill>
                  <a:srgbClr val="C87922"/>
                </a:solidFill>
                <a:latin typeface="Aptos"/>
              </a:rPr>
              <a:t>VALIDATE (NEW)</a:t>
            </a:r>
          </a:p>
        </p:txBody>
      </p:sp>
      <p:cxnSp>
        <p:nvCxnSpPr>
          <p:cNvPr id="16" name="Connector 15"/>
          <p:cNvCxnSpPr/>
          <p:nvPr/>
        </p:nvCxnSpPr>
        <p:spPr>
          <a:xfrm>
            <a:off x="7543800" y="1627632"/>
            <a:ext cx="1746504" cy="0"/>
          </a:xfrm>
          <a:prstGeom prst="line">
            <a:avLst/>
          </a:prstGeom>
          <a:ln w="12700">
            <a:solidFill>
              <a:srgbClr val="D6DFEA"/>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9582912" y="1252728"/>
            <a:ext cx="274320" cy="274320"/>
          </a:xfrm>
          <a:prstGeom prst="ellipse">
            <a:avLst/>
          </a:prstGeom>
          <a:solidFill>
            <a:srgbClr val="2E7D55"/>
          </a:solidFill>
          <a:ln>
            <a:solidFill>
              <a:srgbClr val="2E7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82912" y="1252728"/>
            <a:ext cx="274320" cy="274320"/>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4</a:t>
            </a:r>
          </a:p>
        </p:txBody>
      </p:sp>
      <p:sp>
        <p:nvSpPr>
          <p:cNvPr id="19" name="TextBox 18"/>
          <p:cNvSpPr txBox="1"/>
          <p:nvPr/>
        </p:nvSpPr>
        <p:spPr>
          <a:xfrm>
            <a:off x="9966960" y="1261872"/>
            <a:ext cx="1691640" cy="256032"/>
          </a:xfrm>
          <a:prstGeom prst="rect">
            <a:avLst/>
          </a:prstGeom>
          <a:noFill/>
        </p:spPr>
        <p:txBody>
          <a:bodyPr wrap="square" lIns="0" rIns="0" tIns="0" bIns="0" anchor="ctr">
            <a:normAutofit/>
          </a:bodyPr>
          <a:lstStyle/>
          <a:p>
            <a:pPr algn="l">
              <a:spcAft>
                <a:spcPts val="0"/>
              </a:spcAft>
            </a:pPr>
            <a:r>
              <a:rPr sz="1050" b="1">
                <a:solidFill>
                  <a:srgbClr val="2E7D55"/>
                </a:solidFill>
                <a:latin typeface="Aptos"/>
              </a:rPr>
              <a:t>RETURN</a:t>
            </a:r>
          </a:p>
        </p:txBody>
      </p:sp>
      <p:cxnSp>
        <p:nvCxnSpPr>
          <p:cNvPr id="20" name="Connector 19"/>
          <p:cNvCxnSpPr/>
          <p:nvPr/>
        </p:nvCxnSpPr>
        <p:spPr>
          <a:xfrm>
            <a:off x="9582912" y="1627632"/>
            <a:ext cx="2075688" cy="0"/>
          </a:xfrm>
          <a:prstGeom prst="line">
            <a:avLst/>
          </a:prstGeom>
          <a:ln w="12700">
            <a:solidFill>
              <a:srgbClr val="D6DFEA"/>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29200" y="1682496"/>
            <a:ext cx="4224528" cy="2880360"/>
          </a:xfrm>
          <a:prstGeom prst="roundRect">
            <a:avLst/>
          </a:prstGeom>
          <a:solidFill>
            <a:srgbClr val="F1F8F7"/>
          </a:solidFill>
          <a:ln w="15240">
            <a:solidFill>
              <a:srgbClr val="B9DC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4944" y="2267712"/>
            <a:ext cx="521207" cy="228600"/>
          </a:xfrm>
          <a:prstGeom prst="roundRect">
            <a:avLst/>
          </a:prstGeom>
          <a:solidFill>
            <a:srgbClr val="EAF1F7"/>
          </a:solidFill>
          <a:ln>
            <a:solidFill>
              <a:srgbClr val="EA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2267712"/>
            <a:ext cx="521207" cy="228600"/>
          </a:xfrm>
          <a:prstGeom prst="rect">
            <a:avLst/>
          </a:prstGeom>
          <a:noFill/>
        </p:spPr>
        <p:txBody>
          <a:bodyPr wrap="square" lIns="0" rIns="0" tIns="0" bIns="0" anchor="ctr">
            <a:normAutofit/>
          </a:bodyPr>
          <a:lstStyle/>
          <a:p>
            <a:pPr algn="ctr">
              <a:spcAft>
                <a:spcPts val="0"/>
              </a:spcAft>
            </a:pPr>
            <a:r>
              <a:rPr sz="819" b="1">
                <a:solidFill>
                  <a:srgbClr val="315B7D"/>
                </a:solidFill>
                <a:latin typeface="Aptos"/>
              </a:rPr>
              <a:t>START</a:t>
            </a:r>
          </a:p>
        </p:txBody>
      </p:sp>
      <p:sp>
        <p:nvSpPr>
          <p:cNvPr id="24" name="Rounded Rectangle 23"/>
          <p:cNvSpPr/>
          <p:nvPr/>
        </p:nvSpPr>
        <p:spPr>
          <a:xfrm>
            <a:off x="502920" y="2542032"/>
            <a:ext cx="1188720" cy="859536"/>
          </a:xfrm>
          <a:prstGeom prst="roundRect">
            <a:avLst/>
          </a:prstGeom>
          <a:solidFill>
            <a:srgbClr val="FFFFFF"/>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2660903"/>
            <a:ext cx="896112" cy="228600"/>
          </a:xfrm>
          <a:prstGeom prst="rect">
            <a:avLst/>
          </a:prstGeom>
          <a:noFill/>
        </p:spPr>
        <p:txBody>
          <a:bodyPr wrap="square" lIns="0" rIns="0" tIns="0" bIns="0" anchor="ctr">
            <a:normAutofit/>
          </a:bodyPr>
          <a:lstStyle/>
          <a:p>
            <a:pPr algn="ctr">
              <a:spcAft>
                <a:spcPts val="0"/>
              </a:spcAft>
            </a:pPr>
            <a:r>
              <a:rPr sz="1200" b="1">
                <a:solidFill>
                  <a:srgbClr val="17233C"/>
                </a:solidFill>
                <a:latin typeface="Aptos"/>
              </a:rPr>
              <a:t>Customer request</a:t>
            </a:r>
          </a:p>
        </p:txBody>
      </p:sp>
      <p:sp>
        <p:nvSpPr>
          <p:cNvPr id="26" name="TextBox 25"/>
          <p:cNvSpPr txBox="1"/>
          <p:nvPr/>
        </p:nvSpPr>
        <p:spPr>
          <a:xfrm>
            <a:off x="649224" y="2953512"/>
            <a:ext cx="896112" cy="384047"/>
          </a:xfrm>
          <a:prstGeom prst="rect">
            <a:avLst/>
          </a:prstGeom>
          <a:noFill/>
        </p:spPr>
        <p:txBody>
          <a:bodyPr wrap="square" lIns="0" rIns="0" tIns="0" bIns="0" anchor="t">
            <a:normAutofit/>
          </a:bodyPr>
          <a:lstStyle/>
          <a:p>
            <a:pPr algn="ctr">
              <a:spcAft>
                <a:spcPts val="0"/>
              </a:spcAft>
            </a:pPr>
            <a:r>
              <a:rPr sz="919" b="0">
                <a:solidFill>
                  <a:srgbClr val="627086"/>
                </a:solidFill>
                <a:latin typeface="Aptos"/>
              </a:rPr>
              <a:t>Item number, name,
features, or variant</a:t>
            </a:r>
          </a:p>
        </p:txBody>
      </p:sp>
      <p:sp>
        <p:nvSpPr>
          <p:cNvPr id="27" name="Diamond 26"/>
          <p:cNvSpPr/>
          <p:nvPr/>
        </p:nvSpPr>
        <p:spPr>
          <a:xfrm>
            <a:off x="2011680" y="2441448"/>
            <a:ext cx="1417320" cy="1060704"/>
          </a:xfrm>
          <a:prstGeom prst="diamond">
            <a:avLst/>
          </a:prstGeom>
          <a:solidFill>
            <a:srgbClr val="FFFFFF"/>
          </a:solidFill>
          <a:ln w="19050">
            <a:solidFill>
              <a:srgbClr val="315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85416" y="2560320"/>
            <a:ext cx="1069848" cy="822959"/>
          </a:xfrm>
          <a:prstGeom prst="rect">
            <a:avLst/>
          </a:prstGeom>
          <a:noFill/>
        </p:spPr>
        <p:txBody>
          <a:bodyPr wrap="square" lIns="0" rIns="0" tIns="0" bIns="0" anchor="ctr">
            <a:normAutofit/>
          </a:bodyPr>
          <a:lstStyle/>
          <a:p>
            <a:pPr algn="ctr">
              <a:spcAft>
                <a:spcPts val="0"/>
              </a:spcAft>
            </a:pPr>
            <a:r>
              <a:rPr sz="1100" b="1">
                <a:solidFill>
                  <a:srgbClr val="17233C"/>
                </a:solidFill>
                <a:latin typeface="Aptos"/>
              </a:rPr>
              <a:t>Exact item
number found?</a:t>
            </a:r>
          </a:p>
        </p:txBody>
      </p:sp>
      <p:sp>
        <p:nvSpPr>
          <p:cNvPr id="29" name="Rounded Rectangle 28"/>
          <p:cNvSpPr/>
          <p:nvPr/>
        </p:nvSpPr>
        <p:spPr>
          <a:xfrm>
            <a:off x="3730752" y="1810512"/>
            <a:ext cx="1234440" cy="749808"/>
          </a:xfrm>
          <a:prstGeom prst="roundRect">
            <a:avLst/>
          </a:prstGeom>
          <a:solidFill>
            <a:srgbClr val="EAF4EE"/>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77056" y="1929384"/>
            <a:ext cx="941832" cy="228600"/>
          </a:xfrm>
          <a:prstGeom prst="rect">
            <a:avLst/>
          </a:prstGeom>
          <a:noFill/>
        </p:spPr>
        <p:txBody>
          <a:bodyPr wrap="square" lIns="0" rIns="0" tIns="0" bIns="0" anchor="ctr">
            <a:normAutofit/>
          </a:bodyPr>
          <a:lstStyle/>
          <a:p>
            <a:pPr algn="ctr">
              <a:spcAft>
                <a:spcPts val="0"/>
              </a:spcAft>
            </a:pPr>
            <a:r>
              <a:rPr sz="1200" b="1">
                <a:solidFill>
                  <a:srgbClr val="17233C"/>
                </a:solidFill>
                <a:latin typeface="Aptos"/>
              </a:rPr>
              <a:t>Exact item</a:t>
            </a:r>
          </a:p>
        </p:txBody>
      </p:sp>
      <p:sp>
        <p:nvSpPr>
          <p:cNvPr id="31" name="TextBox 30"/>
          <p:cNvSpPr txBox="1"/>
          <p:nvPr/>
        </p:nvSpPr>
        <p:spPr>
          <a:xfrm>
            <a:off x="3877056" y="2221992"/>
            <a:ext cx="941832" cy="274319"/>
          </a:xfrm>
          <a:prstGeom prst="rect">
            <a:avLst/>
          </a:prstGeom>
          <a:noFill/>
        </p:spPr>
        <p:txBody>
          <a:bodyPr wrap="square" lIns="0" rIns="0" tIns="0" bIns="0" anchor="t">
            <a:normAutofit/>
          </a:bodyPr>
          <a:lstStyle/>
          <a:p>
            <a:pPr algn="ctr">
              <a:spcAft>
                <a:spcPts val="0"/>
              </a:spcAft>
            </a:pPr>
            <a:r>
              <a:rPr sz="919" b="0">
                <a:solidFill>
                  <a:srgbClr val="627086"/>
                </a:solidFill>
                <a:latin typeface="Aptos"/>
              </a:rPr>
              <a:t>One trusted
catalog item</a:t>
            </a:r>
          </a:p>
        </p:txBody>
      </p:sp>
      <p:sp>
        <p:nvSpPr>
          <p:cNvPr id="32" name="Diamond 31"/>
          <p:cNvSpPr/>
          <p:nvPr/>
        </p:nvSpPr>
        <p:spPr>
          <a:xfrm>
            <a:off x="5212080" y="1810512"/>
            <a:ext cx="1325880" cy="859536"/>
          </a:xfrm>
          <a:prstGeom prst="diamond">
            <a:avLst/>
          </a:prstGeom>
          <a:solidFill>
            <a:srgbClr val="FFFFFF"/>
          </a:solidFill>
          <a:ln w="19050">
            <a:solidFill>
              <a:srgbClr val="2E7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85816" y="1929384"/>
            <a:ext cx="978407" cy="621792"/>
          </a:xfrm>
          <a:prstGeom prst="rect">
            <a:avLst/>
          </a:prstGeom>
          <a:noFill/>
        </p:spPr>
        <p:txBody>
          <a:bodyPr wrap="square" lIns="0" rIns="0" tIns="0" bIns="0" anchor="ctr">
            <a:normAutofit/>
          </a:bodyPr>
          <a:lstStyle/>
          <a:p>
            <a:pPr algn="ctr">
              <a:spcAft>
                <a:spcPts val="0"/>
              </a:spcAft>
            </a:pPr>
            <a:r>
              <a:rPr sz="1100" b="1">
                <a:solidFill>
                  <a:srgbClr val="17233C"/>
                </a:solidFill>
                <a:latin typeface="Aptos"/>
              </a:rPr>
              <a:t>Has
variants?</a:t>
            </a:r>
          </a:p>
        </p:txBody>
      </p:sp>
      <p:sp>
        <p:nvSpPr>
          <p:cNvPr id="34" name="Rounded Rectangle 33"/>
          <p:cNvSpPr/>
          <p:nvPr/>
        </p:nvSpPr>
        <p:spPr>
          <a:xfrm>
            <a:off x="7653527" y="1847088"/>
            <a:ext cx="1444752" cy="749808"/>
          </a:xfrm>
          <a:prstGeom prst="roundRect">
            <a:avLst/>
          </a:prstGeom>
          <a:solidFill>
            <a:srgbClr val="EAF4EE"/>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99831" y="1965960"/>
            <a:ext cx="1152144" cy="228600"/>
          </a:xfrm>
          <a:prstGeom prst="rect">
            <a:avLst/>
          </a:prstGeom>
          <a:noFill/>
        </p:spPr>
        <p:txBody>
          <a:bodyPr wrap="square" lIns="0" rIns="0" tIns="0" bIns="0" anchor="ctr">
            <a:normAutofit/>
          </a:bodyPr>
          <a:lstStyle/>
          <a:p>
            <a:pPr algn="ctr">
              <a:spcAft>
                <a:spcPts val="0"/>
              </a:spcAft>
            </a:pPr>
            <a:r>
              <a:rPr sz="1200" b="1">
                <a:solidFill>
                  <a:srgbClr val="17233C"/>
                </a:solidFill>
                <a:latin typeface="Aptos"/>
              </a:rPr>
              <a:t>Availability</a:t>
            </a:r>
          </a:p>
        </p:txBody>
      </p:sp>
      <p:sp>
        <p:nvSpPr>
          <p:cNvPr id="36" name="TextBox 35"/>
          <p:cNvSpPr txBox="1"/>
          <p:nvPr/>
        </p:nvSpPr>
        <p:spPr>
          <a:xfrm>
            <a:off x="7799831" y="2258568"/>
            <a:ext cx="1152144" cy="274319"/>
          </a:xfrm>
          <a:prstGeom prst="rect">
            <a:avLst/>
          </a:prstGeom>
          <a:noFill/>
        </p:spPr>
        <p:txBody>
          <a:bodyPr wrap="square" lIns="0" rIns="0" tIns="0" bIns="0" anchor="t">
            <a:normAutofit/>
          </a:bodyPr>
          <a:lstStyle/>
          <a:p>
            <a:pPr algn="ctr">
              <a:spcAft>
                <a:spcPts val="0"/>
              </a:spcAft>
            </a:pPr>
            <a:r>
              <a:rPr sz="919" b="0">
                <a:solidFill>
                  <a:srgbClr val="627086"/>
                </a:solidFill>
                <a:latin typeface="Aptos"/>
              </a:rPr>
              <a:t>New fast path:
selector not called</a:t>
            </a:r>
          </a:p>
        </p:txBody>
      </p:sp>
      <p:sp>
        <p:nvSpPr>
          <p:cNvPr id="37" name="Rounded Rectangle 36"/>
          <p:cNvSpPr/>
          <p:nvPr/>
        </p:nvSpPr>
        <p:spPr>
          <a:xfrm>
            <a:off x="3639312" y="3063240"/>
            <a:ext cx="1417320" cy="1188720"/>
          </a:xfrm>
          <a:prstGeom prst="roundRect">
            <a:avLst/>
          </a:prstGeom>
          <a:solidFill>
            <a:srgbClr val="EAF1F7"/>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85615" y="3182112"/>
            <a:ext cx="1124712" cy="228600"/>
          </a:xfrm>
          <a:prstGeom prst="rect">
            <a:avLst/>
          </a:prstGeom>
          <a:noFill/>
        </p:spPr>
        <p:txBody>
          <a:bodyPr wrap="square" lIns="0" rIns="0" tIns="0" bIns="0" anchor="ctr">
            <a:normAutofit/>
          </a:bodyPr>
          <a:lstStyle/>
          <a:p>
            <a:pPr algn="ctr">
              <a:spcAft>
                <a:spcPts val="0"/>
              </a:spcAft>
            </a:pPr>
            <a:r>
              <a:rPr sz="1200" b="1">
                <a:solidFill>
                  <a:srgbClr val="17233C"/>
                </a:solidFill>
                <a:latin typeface="Aptos"/>
              </a:rPr>
              <a:t>Catalog discovery</a:t>
            </a:r>
          </a:p>
        </p:txBody>
      </p:sp>
      <p:sp>
        <p:nvSpPr>
          <p:cNvPr id="39" name="TextBox 38"/>
          <p:cNvSpPr txBox="1"/>
          <p:nvPr/>
        </p:nvSpPr>
        <p:spPr>
          <a:xfrm>
            <a:off x="3785615" y="3474720"/>
            <a:ext cx="1124712" cy="713232"/>
          </a:xfrm>
          <a:prstGeom prst="rect">
            <a:avLst/>
          </a:prstGeom>
          <a:noFill/>
        </p:spPr>
        <p:txBody>
          <a:bodyPr wrap="square" lIns="0" rIns="0" tIns="0" bIns="0" anchor="t">
            <a:normAutofit/>
          </a:bodyPr>
          <a:lstStyle/>
          <a:p>
            <a:pPr algn="ctr">
              <a:spcAft>
                <a:spcPts val="0"/>
              </a:spcAft>
            </a:pPr>
            <a:r>
              <a:rPr sz="919" b="0">
                <a:solidFill>
                  <a:srgbClr val="627086"/>
                </a:solidFill>
                <a:latin typeface="Aptos"/>
              </a:rPr>
              <a:t>Indexed search
If empty: broader
semantic recovery</a:t>
            </a:r>
          </a:p>
        </p:txBody>
      </p:sp>
      <p:sp>
        <p:nvSpPr>
          <p:cNvPr id="40" name="Rounded Rectangle 39"/>
          <p:cNvSpPr/>
          <p:nvPr/>
        </p:nvSpPr>
        <p:spPr>
          <a:xfrm>
            <a:off x="5266944" y="2779776"/>
            <a:ext cx="2148840" cy="1664208"/>
          </a:xfrm>
          <a:prstGeom prst="roundRect">
            <a:avLst/>
          </a:prstGeom>
          <a:solidFill>
            <a:srgbClr val="E7F4F2"/>
          </a:solidFill>
          <a:ln w="17780">
            <a:solidFill>
              <a:srgbClr val="178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31536" y="2889504"/>
            <a:ext cx="1819656" cy="219456"/>
          </a:xfrm>
          <a:prstGeom prst="rect">
            <a:avLst/>
          </a:prstGeom>
          <a:noFill/>
        </p:spPr>
        <p:txBody>
          <a:bodyPr wrap="square" lIns="0" rIns="0" tIns="0" bIns="0" anchor="ctr">
            <a:normAutofit/>
          </a:bodyPr>
          <a:lstStyle/>
          <a:p>
            <a:pPr algn="ctr">
              <a:spcAft>
                <a:spcPts val="0"/>
              </a:spcAft>
            </a:pPr>
            <a:r>
              <a:rPr sz="1200" b="1">
                <a:solidFill>
                  <a:srgbClr val="17827A"/>
                </a:solidFill>
                <a:latin typeface="Aptos"/>
              </a:rPr>
              <a:t>ITEM SELECTOR</a:t>
            </a:r>
          </a:p>
        </p:txBody>
      </p:sp>
      <p:sp>
        <p:nvSpPr>
          <p:cNvPr id="42" name="Rounded Rectangle 41"/>
          <p:cNvSpPr/>
          <p:nvPr/>
        </p:nvSpPr>
        <p:spPr>
          <a:xfrm>
            <a:off x="5431536" y="3200400"/>
            <a:ext cx="1819656" cy="228600"/>
          </a:xfrm>
          <a:prstGeom prst="roundRect">
            <a:avLst/>
          </a:prstGeom>
          <a:solidFill>
            <a:srgbClr val="FFFFFF"/>
          </a:solidFill>
          <a:ln w="889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22976" y="3200400"/>
            <a:ext cx="1636776" cy="228600"/>
          </a:xfrm>
          <a:prstGeom prst="rect">
            <a:avLst/>
          </a:prstGeom>
          <a:noFill/>
        </p:spPr>
        <p:txBody>
          <a:bodyPr wrap="square" lIns="0" rIns="0" tIns="0" bIns="0" anchor="ctr">
            <a:normAutofit/>
          </a:bodyPr>
          <a:lstStyle/>
          <a:p>
            <a:pPr algn="ctr">
              <a:spcAft>
                <a:spcPts val="0"/>
              </a:spcAft>
            </a:pPr>
            <a:r>
              <a:rPr sz="880" b="1">
                <a:solidFill>
                  <a:srgbClr val="17233C"/>
                </a:solidFill>
                <a:latin typeface="Aptos"/>
              </a:rPr>
              <a:t>Search query</a:t>
            </a:r>
          </a:p>
        </p:txBody>
      </p:sp>
      <p:sp>
        <p:nvSpPr>
          <p:cNvPr id="44" name="Rounded Rectangle 43"/>
          <p:cNvSpPr/>
          <p:nvPr/>
        </p:nvSpPr>
        <p:spPr>
          <a:xfrm>
            <a:off x="5431536" y="3483864"/>
            <a:ext cx="1819656" cy="228600"/>
          </a:xfrm>
          <a:prstGeom prst="roundRect">
            <a:avLst/>
          </a:prstGeom>
          <a:solidFill>
            <a:srgbClr val="FFFFFF"/>
          </a:solidFill>
          <a:ln w="889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22976" y="3483864"/>
            <a:ext cx="1636776" cy="228600"/>
          </a:xfrm>
          <a:prstGeom prst="rect">
            <a:avLst/>
          </a:prstGeom>
          <a:noFill/>
        </p:spPr>
        <p:txBody>
          <a:bodyPr wrap="square" lIns="0" rIns="0" tIns="0" bIns="0" anchor="ctr">
            <a:normAutofit/>
          </a:bodyPr>
          <a:lstStyle/>
          <a:p>
            <a:pPr algn="ctr">
              <a:spcAft>
                <a:spcPts val="0"/>
              </a:spcAft>
            </a:pPr>
            <a:r>
              <a:rPr sz="880" b="1">
                <a:solidFill>
                  <a:srgbClr val="17233C"/>
                </a:solidFill>
                <a:latin typeface="Aptos"/>
              </a:rPr>
              <a:t>Item + variant data</a:t>
            </a:r>
          </a:p>
        </p:txBody>
      </p:sp>
      <p:sp>
        <p:nvSpPr>
          <p:cNvPr id="46" name="Rounded Rectangle 45"/>
          <p:cNvSpPr/>
          <p:nvPr/>
        </p:nvSpPr>
        <p:spPr>
          <a:xfrm>
            <a:off x="5431536" y="3767328"/>
            <a:ext cx="1819656" cy="228600"/>
          </a:xfrm>
          <a:prstGeom prst="roundRect">
            <a:avLst/>
          </a:prstGeom>
          <a:solidFill>
            <a:srgbClr val="FFFFFF"/>
          </a:solidFill>
          <a:ln w="889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522976" y="3767328"/>
            <a:ext cx="1636776" cy="228600"/>
          </a:xfrm>
          <a:prstGeom prst="rect">
            <a:avLst/>
          </a:prstGeom>
          <a:noFill/>
        </p:spPr>
        <p:txBody>
          <a:bodyPr wrap="square" lIns="0" rIns="0" tIns="0" bIns="0" anchor="ctr">
            <a:normAutofit/>
          </a:bodyPr>
          <a:lstStyle/>
          <a:p>
            <a:pPr algn="ctr">
              <a:spcAft>
                <a:spcPts val="0"/>
              </a:spcAft>
            </a:pPr>
            <a:r>
              <a:rPr sz="880" b="1">
                <a:solidFill>
                  <a:srgbClr val="17233C"/>
                </a:solidFill>
                <a:latin typeface="Aptos"/>
              </a:rPr>
              <a:t>Message content</a:t>
            </a:r>
          </a:p>
        </p:txBody>
      </p:sp>
      <p:sp>
        <p:nvSpPr>
          <p:cNvPr id="48" name="TextBox 47"/>
          <p:cNvSpPr txBox="1"/>
          <p:nvPr/>
        </p:nvSpPr>
        <p:spPr>
          <a:xfrm>
            <a:off x="5431536" y="4069080"/>
            <a:ext cx="1819656" cy="310896"/>
          </a:xfrm>
          <a:prstGeom prst="rect">
            <a:avLst/>
          </a:prstGeom>
          <a:noFill/>
        </p:spPr>
        <p:txBody>
          <a:bodyPr wrap="square" lIns="0" rIns="0" tIns="0" bIns="0" anchor="ctr">
            <a:normAutofit/>
          </a:bodyPr>
          <a:lstStyle/>
          <a:p>
            <a:pPr algn="ctr">
              <a:spcAft>
                <a:spcPts val="0"/>
              </a:spcAft>
            </a:pPr>
            <a:r>
              <a:rPr sz="910" b="1">
                <a:solidFill>
                  <a:srgbClr val="17827A"/>
                </a:solidFill>
                <a:latin typeface="Aptos"/>
              </a:rPr>
              <a:t>Chooses the requested variant
or a safe alternative</a:t>
            </a:r>
          </a:p>
        </p:txBody>
      </p:sp>
      <p:sp>
        <p:nvSpPr>
          <p:cNvPr id="49" name="Rounded Rectangle 48"/>
          <p:cNvSpPr/>
          <p:nvPr/>
        </p:nvSpPr>
        <p:spPr>
          <a:xfrm>
            <a:off x="7653527" y="3063240"/>
            <a:ext cx="1481328" cy="1188720"/>
          </a:xfrm>
          <a:prstGeom prst="roundRect">
            <a:avLst/>
          </a:prstGeom>
          <a:solidFill>
            <a:srgbClr val="FBF0E4"/>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799831" y="3182112"/>
            <a:ext cx="1188720" cy="228600"/>
          </a:xfrm>
          <a:prstGeom prst="rect">
            <a:avLst/>
          </a:prstGeom>
          <a:noFill/>
        </p:spPr>
        <p:txBody>
          <a:bodyPr wrap="square" lIns="0" rIns="0" tIns="0" bIns="0" anchor="ctr">
            <a:normAutofit/>
          </a:bodyPr>
          <a:lstStyle/>
          <a:p>
            <a:pPr algn="ctr">
              <a:spcAft>
                <a:spcPts val="0"/>
              </a:spcAft>
            </a:pPr>
            <a:r>
              <a:rPr sz="1200" b="1">
                <a:solidFill>
                  <a:srgbClr val="17233C"/>
                </a:solidFill>
                <a:latin typeface="Aptos"/>
              </a:rPr>
              <a:t>AL validation</a:t>
            </a:r>
          </a:p>
        </p:txBody>
      </p:sp>
      <p:sp>
        <p:nvSpPr>
          <p:cNvPr id="51" name="TextBox 50"/>
          <p:cNvSpPr txBox="1"/>
          <p:nvPr/>
        </p:nvSpPr>
        <p:spPr>
          <a:xfrm>
            <a:off x="7799831" y="3474720"/>
            <a:ext cx="1188720" cy="713232"/>
          </a:xfrm>
          <a:prstGeom prst="rect">
            <a:avLst/>
          </a:prstGeom>
          <a:noFill/>
        </p:spPr>
        <p:txBody>
          <a:bodyPr wrap="square" lIns="0" rIns="0" tIns="0" bIns="0" anchor="t">
            <a:normAutofit/>
          </a:bodyPr>
          <a:lstStyle/>
          <a:p>
            <a:pPr algn="ctr">
              <a:spcAft>
                <a:spcPts val="0"/>
              </a:spcAft>
            </a:pPr>
            <a:r>
              <a:rPr sz="919" b="0">
                <a:solidFill>
                  <a:srgbClr val="627086"/>
                </a:solidFill>
                <a:latin typeface="Aptos"/>
              </a:rPr>
              <a:t>Valid item + variant
Safe substitution
Available stock</a:t>
            </a:r>
          </a:p>
        </p:txBody>
      </p:sp>
      <p:sp>
        <p:nvSpPr>
          <p:cNvPr id="52" name="Rounded Rectangle 51"/>
          <p:cNvSpPr/>
          <p:nvPr/>
        </p:nvSpPr>
        <p:spPr>
          <a:xfrm>
            <a:off x="9582912" y="1810512"/>
            <a:ext cx="2075688" cy="2514600"/>
          </a:xfrm>
          <a:prstGeom prst="roundRect">
            <a:avLst/>
          </a:prstGeom>
          <a:solidFill>
            <a:srgbClr val="FFFFFF"/>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65792" y="1984248"/>
            <a:ext cx="1709928" cy="256032"/>
          </a:xfrm>
          <a:prstGeom prst="rect">
            <a:avLst/>
          </a:prstGeom>
          <a:noFill/>
        </p:spPr>
        <p:txBody>
          <a:bodyPr wrap="square" lIns="0" rIns="0" tIns="0" bIns="0" anchor="ctr">
            <a:normAutofit/>
          </a:bodyPr>
          <a:lstStyle/>
          <a:p>
            <a:pPr algn="ctr">
              <a:spcAft>
                <a:spcPts val="0"/>
              </a:spcAft>
            </a:pPr>
            <a:r>
              <a:rPr sz="1050" b="1">
                <a:solidFill>
                  <a:srgbClr val="17233C"/>
                </a:solidFill>
                <a:latin typeface="Aptos"/>
              </a:rPr>
              <a:t>END: BUSINESS OUTCOME</a:t>
            </a:r>
          </a:p>
        </p:txBody>
      </p:sp>
      <p:sp>
        <p:nvSpPr>
          <p:cNvPr id="54" name="Rounded Rectangle 53"/>
          <p:cNvSpPr/>
          <p:nvPr/>
        </p:nvSpPr>
        <p:spPr>
          <a:xfrm>
            <a:off x="9802368" y="2432304"/>
            <a:ext cx="1636776" cy="420624"/>
          </a:xfrm>
          <a:prstGeom prst="roundRect">
            <a:avLst/>
          </a:prstGeom>
          <a:solidFill>
            <a:srgbClr val="EAF4EE"/>
          </a:solidFill>
          <a:ln>
            <a:solidFill>
              <a:srgbClr val="EA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02368" y="2432304"/>
            <a:ext cx="1636776" cy="420624"/>
          </a:xfrm>
          <a:prstGeom prst="rect">
            <a:avLst/>
          </a:prstGeom>
          <a:noFill/>
        </p:spPr>
        <p:txBody>
          <a:bodyPr wrap="square" lIns="0" rIns="0" tIns="0" bIns="0" anchor="ctr">
            <a:normAutofit/>
          </a:bodyPr>
          <a:lstStyle/>
          <a:p>
            <a:pPr algn="ctr">
              <a:spcAft>
                <a:spcPts val="0"/>
              </a:spcAft>
            </a:pPr>
            <a:r>
              <a:rPr sz="1100" b="1">
                <a:solidFill>
                  <a:srgbClr val="2E7D55"/>
                </a:solidFill>
                <a:latin typeface="Aptos"/>
              </a:rPr>
              <a:t>Requested item</a:t>
            </a:r>
          </a:p>
        </p:txBody>
      </p:sp>
      <p:sp>
        <p:nvSpPr>
          <p:cNvPr id="56" name="Rounded Rectangle 55"/>
          <p:cNvSpPr/>
          <p:nvPr/>
        </p:nvSpPr>
        <p:spPr>
          <a:xfrm>
            <a:off x="9802368" y="3017520"/>
            <a:ext cx="1636776" cy="512064"/>
          </a:xfrm>
          <a:prstGeom prst="roundRect">
            <a:avLst/>
          </a:prstGeom>
          <a:solidFill>
            <a:srgbClr val="FBF0E4"/>
          </a:solidFill>
          <a:ln>
            <a:solidFill>
              <a:srgbClr val="FBF0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02368" y="3017520"/>
            <a:ext cx="1636776" cy="512064"/>
          </a:xfrm>
          <a:prstGeom prst="rect">
            <a:avLst/>
          </a:prstGeom>
          <a:noFill/>
        </p:spPr>
        <p:txBody>
          <a:bodyPr wrap="square" lIns="0" rIns="0" tIns="0" bIns="0" anchor="ctr">
            <a:normAutofit/>
          </a:bodyPr>
          <a:lstStyle/>
          <a:p>
            <a:pPr algn="ctr">
              <a:spcAft>
                <a:spcPts val="0"/>
              </a:spcAft>
            </a:pPr>
            <a:r>
              <a:rPr sz="1050" b="1">
                <a:solidFill>
                  <a:srgbClr val="C87922"/>
                </a:solidFill>
                <a:latin typeface="Aptos"/>
              </a:rPr>
              <a:t>Safe alternative
with confirmation</a:t>
            </a:r>
          </a:p>
        </p:txBody>
      </p:sp>
      <p:sp>
        <p:nvSpPr>
          <p:cNvPr id="58" name="Rounded Rectangle 57"/>
          <p:cNvSpPr/>
          <p:nvPr/>
        </p:nvSpPr>
        <p:spPr>
          <a:xfrm>
            <a:off x="9802368" y="3694176"/>
            <a:ext cx="1636776" cy="420624"/>
          </a:xfrm>
          <a:prstGeom prst="roundRect">
            <a:avLst/>
          </a:prstGeom>
          <a:solidFill>
            <a:srgbClr val="EEF1F5"/>
          </a:solidFill>
          <a:ln>
            <a:solidFill>
              <a:srgbClr val="EEF1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02368" y="3694176"/>
            <a:ext cx="1636776" cy="420624"/>
          </a:xfrm>
          <a:prstGeom prst="rect">
            <a:avLst/>
          </a:prstGeom>
          <a:noFill/>
        </p:spPr>
        <p:txBody>
          <a:bodyPr wrap="square" lIns="0" rIns="0" tIns="0" bIns="0" anchor="ctr">
            <a:normAutofit/>
          </a:bodyPr>
          <a:lstStyle/>
          <a:p>
            <a:pPr algn="ctr">
              <a:spcAft>
                <a:spcPts val="0"/>
              </a:spcAft>
            </a:pPr>
            <a:r>
              <a:rPr sz="1100" b="1">
                <a:solidFill>
                  <a:srgbClr val="6B7588"/>
                </a:solidFill>
                <a:latin typeface="Aptos"/>
              </a:rPr>
              <a:t>No result</a:t>
            </a:r>
          </a:p>
        </p:txBody>
      </p:sp>
      <p:cxnSp>
        <p:nvCxnSpPr>
          <p:cNvPr id="60" name="Connector 59"/>
          <p:cNvCxnSpPr/>
          <p:nvPr/>
        </p:nvCxnSpPr>
        <p:spPr>
          <a:xfrm>
            <a:off x="1691640" y="2971800"/>
            <a:ext cx="320040" cy="0"/>
          </a:xfrm>
          <a:prstGeom prst="line">
            <a:avLst/>
          </a:prstGeom>
          <a:ln w="21590">
            <a:solidFill>
              <a:srgbClr val="315B7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3054096" y="2185416"/>
            <a:ext cx="676656" cy="393192"/>
          </a:xfrm>
          <a:prstGeom prst="line">
            <a:avLst/>
          </a:prstGeom>
          <a:ln w="21590">
            <a:solidFill>
              <a:srgbClr val="2E7D55"/>
            </a:solidFill>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3200400" y="2194560"/>
            <a:ext cx="384048" cy="228600"/>
          </a:xfrm>
          <a:prstGeom prst="roundRect">
            <a:avLst/>
          </a:prstGeom>
          <a:solidFill>
            <a:srgbClr val="EAF4EE"/>
          </a:solidFill>
          <a:ln>
            <a:solidFill>
              <a:srgbClr val="EA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00400" y="2194560"/>
            <a:ext cx="384048" cy="228600"/>
          </a:xfrm>
          <a:prstGeom prst="rect">
            <a:avLst/>
          </a:prstGeom>
          <a:noFill/>
        </p:spPr>
        <p:txBody>
          <a:bodyPr wrap="square" lIns="0" rIns="0" tIns="0" bIns="0" anchor="ctr">
            <a:normAutofit/>
          </a:bodyPr>
          <a:lstStyle/>
          <a:p>
            <a:pPr algn="ctr">
              <a:spcAft>
                <a:spcPts val="0"/>
              </a:spcAft>
            </a:pPr>
            <a:r>
              <a:rPr sz="819" b="1">
                <a:solidFill>
                  <a:srgbClr val="2E7D55"/>
                </a:solidFill>
                <a:latin typeface="Aptos"/>
              </a:rPr>
              <a:t>YES</a:t>
            </a:r>
          </a:p>
        </p:txBody>
      </p:sp>
      <p:cxnSp>
        <p:nvCxnSpPr>
          <p:cNvPr id="64" name="Connector 63"/>
          <p:cNvCxnSpPr/>
          <p:nvPr/>
        </p:nvCxnSpPr>
        <p:spPr>
          <a:xfrm>
            <a:off x="4965192" y="2185416"/>
            <a:ext cx="246888" cy="54864"/>
          </a:xfrm>
          <a:prstGeom prst="line">
            <a:avLst/>
          </a:prstGeom>
          <a:ln w="21590">
            <a:solidFill>
              <a:srgbClr val="2E7D55"/>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537960" y="2221992"/>
            <a:ext cx="1115567" cy="18288"/>
          </a:xfrm>
          <a:prstGeom prst="line">
            <a:avLst/>
          </a:prstGeom>
          <a:ln w="21590">
            <a:solidFill>
              <a:srgbClr val="2E7D55"/>
            </a:solidFill>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693408" y="1874519"/>
            <a:ext cx="795527" cy="228600"/>
          </a:xfrm>
          <a:prstGeom prst="roundRect">
            <a:avLst/>
          </a:prstGeom>
          <a:solidFill>
            <a:srgbClr val="EAF4EE"/>
          </a:solidFill>
          <a:ln>
            <a:solidFill>
              <a:srgbClr val="EAF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93408" y="1874519"/>
            <a:ext cx="795527" cy="228600"/>
          </a:xfrm>
          <a:prstGeom prst="rect">
            <a:avLst/>
          </a:prstGeom>
          <a:noFill/>
        </p:spPr>
        <p:txBody>
          <a:bodyPr wrap="square" lIns="0" rIns="0" tIns="0" bIns="0" anchor="ctr">
            <a:normAutofit/>
          </a:bodyPr>
          <a:lstStyle/>
          <a:p>
            <a:pPr algn="ctr">
              <a:spcAft>
                <a:spcPts val="0"/>
              </a:spcAft>
            </a:pPr>
            <a:r>
              <a:rPr sz="819" b="1">
                <a:solidFill>
                  <a:srgbClr val="2E7D55"/>
                </a:solidFill>
                <a:latin typeface="Aptos"/>
              </a:rPr>
              <a:t>NO • FAST</a:t>
            </a:r>
          </a:p>
        </p:txBody>
      </p:sp>
      <p:cxnSp>
        <p:nvCxnSpPr>
          <p:cNvPr id="68" name="Connector 67"/>
          <p:cNvCxnSpPr/>
          <p:nvPr/>
        </p:nvCxnSpPr>
        <p:spPr>
          <a:xfrm>
            <a:off x="9098280" y="2221992"/>
            <a:ext cx="484632" cy="246888"/>
          </a:xfrm>
          <a:prstGeom prst="line">
            <a:avLst/>
          </a:prstGeom>
          <a:ln w="21590">
            <a:solidFill>
              <a:srgbClr val="2E7D55"/>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054096" y="3355848"/>
            <a:ext cx="585216" cy="301752"/>
          </a:xfrm>
          <a:prstGeom prst="line">
            <a:avLst/>
          </a:prstGeom>
          <a:ln w="21590">
            <a:solidFill>
              <a:srgbClr val="315B7D"/>
            </a:solidFill>
          </a:ln>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3218688" y="3401568"/>
            <a:ext cx="384048" cy="228600"/>
          </a:xfrm>
          <a:prstGeom prst="roundRect">
            <a:avLst/>
          </a:prstGeom>
          <a:solidFill>
            <a:srgbClr val="EAF1F7"/>
          </a:solidFill>
          <a:ln>
            <a:solidFill>
              <a:srgbClr val="EA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18688" y="3401568"/>
            <a:ext cx="384048" cy="228600"/>
          </a:xfrm>
          <a:prstGeom prst="rect">
            <a:avLst/>
          </a:prstGeom>
          <a:noFill/>
        </p:spPr>
        <p:txBody>
          <a:bodyPr wrap="square" lIns="0" rIns="0" tIns="0" bIns="0" anchor="ctr">
            <a:normAutofit/>
          </a:bodyPr>
          <a:lstStyle/>
          <a:p>
            <a:pPr algn="ctr">
              <a:spcAft>
                <a:spcPts val="0"/>
              </a:spcAft>
            </a:pPr>
            <a:r>
              <a:rPr sz="819" b="1">
                <a:solidFill>
                  <a:srgbClr val="315B7D"/>
                </a:solidFill>
                <a:latin typeface="Aptos"/>
              </a:rPr>
              <a:t>NO</a:t>
            </a:r>
          </a:p>
        </p:txBody>
      </p:sp>
      <p:cxnSp>
        <p:nvCxnSpPr>
          <p:cNvPr id="72" name="Connector 71"/>
          <p:cNvCxnSpPr/>
          <p:nvPr/>
        </p:nvCxnSpPr>
        <p:spPr>
          <a:xfrm>
            <a:off x="5056632" y="3657600"/>
            <a:ext cx="210312" cy="0"/>
          </a:xfrm>
          <a:prstGeom prst="line">
            <a:avLst/>
          </a:prstGeom>
          <a:ln w="21590">
            <a:solidFill>
              <a:srgbClr val="17827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5879592" y="2670048"/>
            <a:ext cx="0" cy="109728"/>
          </a:xfrm>
          <a:prstGeom prst="line">
            <a:avLst/>
          </a:prstGeom>
          <a:ln w="21590">
            <a:solidFill>
              <a:srgbClr val="17827A"/>
            </a:solidFill>
          </a:ln>
        </p:spPr>
        <p:style>
          <a:lnRef idx="2">
            <a:schemeClr val="accent1"/>
          </a:lnRef>
          <a:fillRef idx="0">
            <a:schemeClr val="accent1"/>
          </a:fillRef>
          <a:effectRef idx="1">
            <a:schemeClr val="accent1"/>
          </a:effectRef>
          <a:fontRef idx="minor">
            <a:schemeClr val="tx1"/>
          </a:fontRef>
        </p:style>
      </p:cxnSp>
      <p:sp>
        <p:nvSpPr>
          <p:cNvPr id="74" name="Rounded Rectangle 73"/>
          <p:cNvSpPr/>
          <p:nvPr/>
        </p:nvSpPr>
        <p:spPr>
          <a:xfrm>
            <a:off x="6007608" y="2660904"/>
            <a:ext cx="384048" cy="228600"/>
          </a:xfrm>
          <a:prstGeom prst="roundRect">
            <a:avLst/>
          </a:prstGeom>
          <a:solidFill>
            <a:srgbClr val="E7F4F2"/>
          </a:solidFill>
          <a:ln>
            <a:solidFill>
              <a:srgbClr val="E7F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007608" y="2660904"/>
            <a:ext cx="384048" cy="228600"/>
          </a:xfrm>
          <a:prstGeom prst="rect">
            <a:avLst/>
          </a:prstGeom>
          <a:noFill/>
        </p:spPr>
        <p:txBody>
          <a:bodyPr wrap="square" lIns="0" rIns="0" tIns="0" bIns="0" anchor="ctr">
            <a:normAutofit/>
          </a:bodyPr>
          <a:lstStyle/>
          <a:p>
            <a:pPr algn="ctr">
              <a:spcAft>
                <a:spcPts val="0"/>
              </a:spcAft>
            </a:pPr>
            <a:r>
              <a:rPr sz="819" b="1">
                <a:solidFill>
                  <a:srgbClr val="17827A"/>
                </a:solidFill>
                <a:latin typeface="Aptos"/>
              </a:rPr>
              <a:t>YES</a:t>
            </a:r>
          </a:p>
        </p:txBody>
      </p:sp>
      <p:cxnSp>
        <p:nvCxnSpPr>
          <p:cNvPr id="76" name="Connector 75"/>
          <p:cNvCxnSpPr/>
          <p:nvPr/>
        </p:nvCxnSpPr>
        <p:spPr>
          <a:xfrm>
            <a:off x="7415783" y="3657600"/>
            <a:ext cx="237744" cy="0"/>
          </a:xfrm>
          <a:prstGeom prst="line">
            <a:avLst/>
          </a:prstGeom>
          <a:ln w="21590">
            <a:solidFill>
              <a:srgbClr val="C87922"/>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134856" y="3657600"/>
            <a:ext cx="448056" cy="0"/>
          </a:xfrm>
          <a:prstGeom prst="line">
            <a:avLst/>
          </a:prstGeom>
          <a:ln w="21590">
            <a:solidFill>
              <a:srgbClr val="C87922"/>
            </a:solidFill>
          </a:ln>
        </p:spPr>
        <p:style>
          <a:lnRef idx="2">
            <a:schemeClr val="accent1"/>
          </a:lnRef>
          <a:fillRef idx="0">
            <a:schemeClr val="accent1"/>
          </a:fillRef>
          <a:effectRef idx="1">
            <a:schemeClr val="accent1"/>
          </a:effectRef>
          <a:fontRef idx="minor">
            <a:schemeClr val="tx1"/>
          </a:fontRef>
        </p:style>
      </p:cxnSp>
      <p:sp>
        <p:nvSpPr>
          <p:cNvPr id="78" name="Rounded Rectangle 77"/>
          <p:cNvSpPr/>
          <p:nvPr/>
        </p:nvSpPr>
        <p:spPr>
          <a:xfrm>
            <a:off x="1078992" y="4809744"/>
            <a:ext cx="10012680" cy="768096"/>
          </a:xfrm>
          <a:prstGeom prst="roundRect">
            <a:avLst/>
          </a:prstGeom>
          <a:solidFill>
            <a:srgbClr val="FFFFFF"/>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298448" y="4992624"/>
            <a:ext cx="1280160" cy="219456"/>
          </a:xfrm>
          <a:prstGeom prst="rect">
            <a:avLst/>
          </a:prstGeom>
          <a:noFill/>
        </p:spPr>
        <p:txBody>
          <a:bodyPr wrap="square" lIns="0" rIns="0" tIns="0" bIns="0" anchor="ctr">
            <a:normAutofit/>
          </a:bodyPr>
          <a:lstStyle/>
          <a:p>
            <a:pPr algn="l">
              <a:spcAft>
                <a:spcPts val="0"/>
              </a:spcAft>
            </a:pPr>
            <a:r>
              <a:rPr sz="1050" b="1">
                <a:solidFill>
                  <a:srgbClr val="17827A"/>
                </a:solidFill>
                <a:latin typeface="Aptos"/>
              </a:rPr>
              <a:t>What improved</a:t>
            </a:r>
          </a:p>
        </p:txBody>
      </p:sp>
      <p:sp>
        <p:nvSpPr>
          <p:cNvPr id="80" name="TextBox 79"/>
          <p:cNvSpPr txBox="1"/>
          <p:nvPr/>
        </p:nvSpPr>
        <p:spPr>
          <a:xfrm>
            <a:off x="2633472" y="4910328"/>
            <a:ext cx="8147304" cy="365760"/>
          </a:xfrm>
          <a:prstGeom prst="rect">
            <a:avLst/>
          </a:prstGeom>
          <a:noFill/>
        </p:spPr>
        <p:txBody>
          <a:bodyPr wrap="square" lIns="0" rIns="0" tIns="0" bIns="0" anchor="ctr">
            <a:normAutofit/>
          </a:bodyPr>
          <a:lstStyle/>
          <a:p>
            <a:pPr algn="l">
              <a:spcAft>
                <a:spcPts val="0"/>
              </a:spcAft>
            </a:pPr>
            <a:r>
              <a:rPr sz="1250" b="1">
                <a:solidFill>
                  <a:srgbClr val="17233C"/>
                </a:solidFill>
                <a:latin typeface="Aptos"/>
              </a:rPr>
              <a:t>Variant data and request context drive selection; AL confirms safety and stock. Exact non-variant items skip AI.</a:t>
            </a:r>
          </a:p>
        </p:txBody>
      </p:sp>
      <p:sp>
        <p:nvSpPr>
          <p:cNvPr id="81" name="TextBox 80"/>
          <p:cNvSpPr txBox="1"/>
          <p:nvPr/>
        </p:nvSpPr>
        <p:spPr>
          <a:xfrm>
            <a:off x="1078992" y="5852160"/>
            <a:ext cx="10012680" cy="274320"/>
          </a:xfrm>
          <a:prstGeom prst="rect">
            <a:avLst/>
          </a:prstGeom>
          <a:noFill/>
        </p:spPr>
        <p:txBody>
          <a:bodyPr wrap="square" lIns="0" rIns="0" tIns="0" bIns="0" anchor="ctr">
            <a:normAutofit/>
          </a:bodyPr>
          <a:lstStyle/>
          <a:p>
            <a:pPr algn="ctr">
              <a:spcAft>
                <a:spcPts val="0"/>
              </a:spcAft>
            </a:pPr>
            <a:r>
              <a:rPr sz="1050" b="0">
                <a:solidFill>
                  <a:srgbClr val="627086"/>
                </a:solidFill>
                <a:latin typeface="Aptos"/>
              </a:rPr>
              <a:t>Broader semantic recovery runs only when indexed search returns no candidates.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182880"/>
            <a:ext cx="2103120" cy="182880"/>
          </a:xfrm>
          <a:prstGeom prst="rect">
            <a:avLst/>
          </a:prstGeom>
          <a:noFill/>
        </p:spPr>
        <p:txBody>
          <a:bodyPr wrap="square" lIns="0" rIns="0" tIns="0" bIns="0" anchor="t">
            <a:normAutofit/>
          </a:bodyPr>
          <a:lstStyle/>
          <a:p>
            <a:pPr algn="l">
              <a:spcAft>
                <a:spcPts val="0"/>
              </a:spcAft>
            </a:pPr>
            <a:r>
              <a:rPr sz="950" b="1">
                <a:solidFill>
                  <a:srgbClr val="17827A"/>
                </a:solidFill>
                <a:latin typeface="Aptos"/>
              </a:rPr>
              <a:t>SALES ORDER AGENT</a:t>
            </a:r>
          </a:p>
        </p:txBody>
      </p:sp>
      <p:sp>
        <p:nvSpPr>
          <p:cNvPr id="3" name="TextBox 2"/>
          <p:cNvSpPr txBox="1"/>
          <p:nvPr/>
        </p:nvSpPr>
        <p:spPr>
          <a:xfrm>
            <a:off x="502920" y="438912"/>
            <a:ext cx="7680960" cy="402336"/>
          </a:xfrm>
          <a:prstGeom prst="rect">
            <a:avLst/>
          </a:prstGeom>
          <a:noFill/>
        </p:spPr>
        <p:txBody>
          <a:bodyPr wrap="square" lIns="0" rIns="0" tIns="0" bIns="0" anchor="t">
            <a:normAutofit/>
          </a:bodyPr>
          <a:lstStyle/>
          <a:p>
            <a:pPr algn="l">
              <a:spcAft>
                <a:spcPts val="0"/>
              </a:spcAft>
            </a:pPr>
            <a:r>
              <a:rPr sz="2500" b="1">
                <a:solidFill>
                  <a:srgbClr val="17233C"/>
                </a:solidFill>
                <a:latin typeface="Aptos"/>
              </a:rPr>
              <a:t>How Customers Ask for Variants</a:t>
            </a:r>
          </a:p>
        </p:txBody>
      </p:sp>
      <p:sp>
        <p:nvSpPr>
          <p:cNvPr id="4" name="TextBox 3"/>
          <p:cNvSpPr txBox="1"/>
          <p:nvPr/>
        </p:nvSpPr>
        <p:spPr>
          <a:xfrm>
            <a:off x="502920" y="896112"/>
            <a:ext cx="8046720" cy="246888"/>
          </a:xfrm>
          <a:prstGeom prst="rect">
            <a:avLst/>
          </a:prstGeom>
          <a:noFill/>
        </p:spPr>
        <p:txBody>
          <a:bodyPr wrap="square" lIns="0" rIns="0" tIns="0" bIns="0" anchor="t">
            <a:normAutofit/>
          </a:bodyPr>
          <a:lstStyle/>
          <a:p>
            <a:pPr algn="l">
              <a:spcAft>
                <a:spcPts val="0"/>
              </a:spcAft>
            </a:pPr>
            <a:r>
              <a:rPr sz="1200" b="0">
                <a:solidFill>
                  <a:srgbClr val="627086"/>
                </a:solidFill>
                <a:latin typeface="Aptos"/>
              </a:rPr>
              <a:t>Customers do not need to know catalog codes or use one exact phrasing.</a:t>
            </a:r>
          </a:p>
        </p:txBody>
      </p:sp>
      <p:sp>
        <p:nvSpPr>
          <p:cNvPr id="5" name="Rounded Rectangle 4"/>
          <p:cNvSpPr/>
          <p:nvPr/>
        </p:nvSpPr>
        <p:spPr>
          <a:xfrm>
            <a:off x="9765792" y="475488"/>
            <a:ext cx="1481328" cy="228600"/>
          </a:xfrm>
          <a:prstGeom prst="roundRect">
            <a:avLst/>
          </a:prstGeom>
          <a:solidFill>
            <a:srgbClr val="EAF1F7"/>
          </a:solidFill>
          <a:ln>
            <a:solidFill>
              <a:srgbClr val="EAF1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65792" y="475488"/>
            <a:ext cx="1481328" cy="228600"/>
          </a:xfrm>
          <a:prstGeom prst="rect">
            <a:avLst/>
          </a:prstGeom>
          <a:noFill/>
        </p:spPr>
        <p:txBody>
          <a:bodyPr wrap="square" lIns="0" rIns="0" tIns="0" bIns="0" anchor="ctr">
            <a:normAutofit/>
          </a:bodyPr>
          <a:lstStyle/>
          <a:p>
            <a:pPr algn="ctr">
              <a:spcAft>
                <a:spcPts val="0"/>
              </a:spcAft>
            </a:pPr>
            <a:r>
              <a:rPr sz="819" b="1">
                <a:solidFill>
                  <a:srgbClr val="315B7D"/>
                </a:solidFill>
                <a:latin typeface="Aptos"/>
              </a:rPr>
              <a:t>SUPPORTED SCENARIOS</a:t>
            </a:r>
          </a:p>
        </p:txBody>
      </p:sp>
      <p:sp>
        <p:nvSpPr>
          <p:cNvPr id="7" name="Rounded Rectangle 6"/>
          <p:cNvSpPr/>
          <p:nvPr/>
        </p:nvSpPr>
        <p:spPr>
          <a:xfrm>
            <a:off x="502920" y="1344168"/>
            <a:ext cx="3621024" cy="1572768"/>
          </a:xfrm>
          <a:prstGeom prst="roundRect">
            <a:avLst/>
          </a:prstGeom>
          <a:solidFill>
            <a:srgbClr val="FFFFFF"/>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67512" y="1490472"/>
            <a:ext cx="292608" cy="292608"/>
          </a:xfrm>
          <a:prstGeom prst="ellipse">
            <a:avLst/>
          </a:prstGeom>
          <a:solidFill>
            <a:srgbClr val="315B7D"/>
          </a:solidFill>
          <a:ln>
            <a:solidFill>
              <a:srgbClr val="315B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90472"/>
            <a:ext cx="292608" cy="292608"/>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1</a:t>
            </a:r>
          </a:p>
        </p:txBody>
      </p:sp>
      <p:sp>
        <p:nvSpPr>
          <p:cNvPr id="10" name="TextBox 9"/>
          <p:cNvSpPr txBox="1"/>
          <p:nvPr/>
        </p:nvSpPr>
        <p:spPr>
          <a:xfrm>
            <a:off x="1051560" y="1490472"/>
            <a:ext cx="2907791" cy="292608"/>
          </a:xfrm>
          <a:prstGeom prst="rect">
            <a:avLst/>
          </a:prstGeom>
          <a:noFill/>
        </p:spPr>
        <p:txBody>
          <a:bodyPr wrap="square" lIns="0" rIns="0" tIns="0" bIns="0" anchor="ctr">
            <a:normAutofit/>
          </a:bodyPr>
          <a:lstStyle/>
          <a:p>
            <a:pPr algn="l">
              <a:spcAft>
                <a:spcPts val="0"/>
              </a:spcAft>
            </a:pPr>
            <a:r>
              <a:rPr sz="919" b="1">
                <a:solidFill>
                  <a:srgbClr val="315B7D"/>
                </a:solidFill>
                <a:latin typeface="Aptos"/>
              </a:rPr>
              <a:t>EXPLICIT VARIANT</a:t>
            </a:r>
          </a:p>
        </p:txBody>
      </p:sp>
      <p:sp>
        <p:nvSpPr>
          <p:cNvPr id="11" name="TextBox 10"/>
          <p:cNvSpPr txBox="1"/>
          <p:nvPr/>
        </p:nvSpPr>
        <p:spPr>
          <a:xfrm>
            <a:off x="667512" y="1865376"/>
            <a:ext cx="3291840" cy="438912"/>
          </a:xfrm>
          <a:prstGeom prst="rect">
            <a:avLst/>
          </a:prstGeom>
          <a:noFill/>
        </p:spPr>
        <p:txBody>
          <a:bodyPr wrap="square" lIns="0" rIns="0" tIns="0" bIns="0" anchor="ctr">
            <a:normAutofit/>
          </a:bodyPr>
          <a:lstStyle/>
          <a:p>
            <a:pPr algn="l">
              <a:spcAft>
                <a:spcPts val="0"/>
              </a:spcAft>
            </a:pPr>
            <a:r>
              <a:rPr sz="1350" b="1">
                <a:solidFill>
                  <a:srgbClr val="17233C"/>
                </a:solidFill>
                <a:latin typeface="Aptos"/>
              </a:rPr>
              <a:t>“MagicToyland Fairy Doll — Variant: BLUE”</a:t>
            </a:r>
          </a:p>
        </p:txBody>
      </p:sp>
      <p:sp>
        <p:nvSpPr>
          <p:cNvPr id="12" name="TextBox 11"/>
          <p:cNvSpPr txBox="1"/>
          <p:nvPr/>
        </p:nvSpPr>
        <p:spPr>
          <a:xfrm>
            <a:off x="667512" y="2423160"/>
            <a:ext cx="3291840" cy="347472"/>
          </a:xfrm>
          <a:prstGeom prst="rect">
            <a:avLst/>
          </a:prstGeom>
          <a:noFill/>
        </p:spPr>
        <p:txBody>
          <a:bodyPr wrap="square" lIns="0" rIns="0" tIns="0" bIns="0" anchor="ctr">
            <a:normAutofit/>
          </a:bodyPr>
          <a:lstStyle/>
          <a:p>
            <a:pPr algn="l">
              <a:spcAft>
                <a:spcPts val="0"/>
              </a:spcAft>
            </a:pPr>
            <a:r>
              <a:rPr sz="950" b="0">
                <a:solidFill>
                  <a:srgbClr val="627086"/>
                </a:solidFill>
                <a:latin typeface="Aptos"/>
              </a:rPr>
              <a:t>Uses the exact BLUE variant on the quote line.</a:t>
            </a:r>
          </a:p>
        </p:txBody>
      </p:sp>
      <p:sp>
        <p:nvSpPr>
          <p:cNvPr id="13" name="Rounded Rectangle 12"/>
          <p:cNvSpPr/>
          <p:nvPr/>
        </p:nvSpPr>
        <p:spPr>
          <a:xfrm>
            <a:off x="4288536" y="1344168"/>
            <a:ext cx="3621024" cy="1572768"/>
          </a:xfrm>
          <a:prstGeom prst="roundRect">
            <a:avLst/>
          </a:prstGeom>
          <a:solidFill>
            <a:srgbClr val="E7F4F2"/>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453128" y="1490472"/>
            <a:ext cx="292608" cy="292608"/>
          </a:xfrm>
          <a:prstGeom prst="ellipse">
            <a:avLst/>
          </a:prstGeom>
          <a:solidFill>
            <a:srgbClr val="17827A"/>
          </a:solidFill>
          <a:ln>
            <a:solidFill>
              <a:srgbClr val="178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490472"/>
            <a:ext cx="292608" cy="292608"/>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2</a:t>
            </a:r>
          </a:p>
        </p:txBody>
      </p:sp>
      <p:sp>
        <p:nvSpPr>
          <p:cNvPr id="16" name="TextBox 15"/>
          <p:cNvSpPr txBox="1"/>
          <p:nvPr/>
        </p:nvSpPr>
        <p:spPr>
          <a:xfrm>
            <a:off x="4837176" y="1490472"/>
            <a:ext cx="2907791" cy="292608"/>
          </a:xfrm>
          <a:prstGeom prst="rect">
            <a:avLst/>
          </a:prstGeom>
          <a:noFill/>
        </p:spPr>
        <p:txBody>
          <a:bodyPr wrap="square" lIns="0" rIns="0" tIns="0" bIns="0" anchor="ctr">
            <a:normAutofit/>
          </a:bodyPr>
          <a:lstStyle/>
          <a:p>
            <a:pPr algn="l">
              <a:spcAft>
                <a:spcPts val="0"/>
              </a:spcAft>
            </a:pPr>
            <a:r>
              <a:rPr sz="919" b="1">
                <a:solidFill>
                  <a:srgbClr val="17827A"/>
                </a:solidFill>
                <a:latin typeface="Aptos"/>
              </a:rPr>
              <a:t>NATURAL LANGUAGE</a:t>
            </a:r>
          </a:p>
        </p:txBody>
      </p:sp>
      <p:sp>
        <p:nvSpPr>
          <p:cNvPr id="17" name="TextBox 16"/>
          <p:cNvSpPr txBox="1"/>
          <p:nvPr/>
        </p:nvSpPr>
        <p:spPr>
          <a:xfrm>
            <a:off x="4453128" y="1865376"/>
            <a:ext cx="3291840" cy="438912"/>
          </a:xfrm>
          <a:prstGeom prst="rect">
            <a:avLst/>
          </a:prstGeom>
          <a:noFill/>
        </p:spPr>
        <p:txBody>
          <a:bodyPr wrap="square" lIns="0" rIns="0" tIns="0" bIns="0" anchor="ctr">
            <a:normAutofit/>
          </a:bodyPr>
          <a:lstStyle/>
          <a:p>
            <a:pPr algn="l">
              <a:spcAft>
                <a:spcPts val="0"/>
              </a:spcAft>
            </a:pPr>
            <a:r>
              <a:rPr sz="1350" b="1">
                <a:solidFill>
                  <a:srgbClr val="17233C"/>
                </a:solidFill>
                <a:latin typeface="Aptos"/>
              </a:rPr>
              <a:t>“WonderWagon Bicycle in black”</a:t>
            </a:r>
          </a:p>
        </p:txBody>
      </p:sp>
      <p:sp>
        <p:nvSpPr>
          <p:cNvPr id="18" name="TextBox 17"/>
          <p:cNvSpPr txBox="1"/>
          <p:nvPr/>
        </p:nvSpPr>
        <p:spPr>
          <a:xfrm>
            <a:off x="4453128" y="2423160"/>
            <a:ext cx="3291840" cy="347472"/>
          </a:xfrm>
          <a:prstGeom prst="rect">
            <a:avLst/>
          </a:prstGeom>
          <a:noFill/>
        </p:spPr>
        <p:txBody>
          <a:bodyPr wrap="square" lIns="0" rIns="0" tIns="0" bIns="0" anchor="ctr">
            <a:normAutofit/>
          </a:bodyPr>
          <a:lstStyle/>
          <a:p>
            <a:pPr algn="l">
              <a:spcAft>
                <a:spcPts val="0"/>
              </a:spcAft>
            </a:pPr>
            <a:r>
              <a:rPr sz="950" b="0">
                <a:solidFill>
                  <a:srgbClr val="627086"/>
                </a:solidFill>
                <a:latin typeface="Aptos"/>
              </a:rPr>
              <a:t>Maps everyday wording to catalog variant BLACK.</a:t>
            </a:r>
          </a:p>
        </p:txBody>
      </p:sp>
      <p:sp>
        <p:nvSpPr>
          <p:cNvPr id="19" name="Rounded Rectangle 18"/>
          <p:cNvSpPr/>
          <p:nvPr/>
        </p:nvSpPr>
        <p:spPr>
          <a:xfrm>
            <a:off x="8074152" y="1344168"/>
            <a:ext cx="3621024" cy="1572768"/>
          </a:xfrm>
          <a:prstGeom prst="roundRect">
            <a:avLst/>
          </a:prstGeom>
          <a:solidFill>
            <a:srgbClr val="FBF0E4"/>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38744" y="1490472"/>
            <a:ext cx="292608" cy="292608"/>
          </a:xfrm>
          <a:prstGeom prst="ellipse">
            <a:avLst/>
          </a:prstGeom>
          <a:solidFill>
            <a:srgbClr val="C87922"/>
          </a:solidFill>
          <a:ln>
            <a:solidFill>
              <a:srgbClr val="C87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1490472"/>
            <a:ext cx="292608" cy="292608"/>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3</a:t>
            </a:r>
          </a:p>
        </p:txBody>
      </p:sp>
      <p:sp>
        <p:nvSpPr>
          <p:cNvPr id="22" name="TextBox 21"/>
          <p:cNvSpPr txBox="1"/>
          <p:nvPr/>
        </p:nvSpPr>
        <p:spPr>
          <a:xfrm>
            <a:off x="8622792" y="1490472"/>
            <a:ext cx="2907791" cy="292608"/>
          </a:xfrm>
          <a:prstGeom prst="rect">
            <a:avLst/>
          </a:prstGeom>
          <a:noFill/>
        </p:spPr>
        <p:txBody>
          <a:bodyPr wrap="square" lIns="0" rIns="0" tIns="0" bIns="0" anchor="ctr">
            <a:normAutofit/>
          </a:bodyPr>
          <a:lstStyle/>
          <a:p>
            <a:pPr algn="l">
              <a:spcAft>
                <a:spcPts val="0"/>
              </a:spcAft>
            </a:pPr>
            <a:r>
              <a:rPr sz="919" b="1">
                <a:solidFill>
                  <a:srgbClr val="C87922"/>
                </a:solidFill>
                <a:latin typeface="Aptos"/>
              </a:rPr>
              <a:t>SAFETY-SENSITIVE SIZE</a:t>
            </a:r>
          </a:p>
        </p:txBody>
      </p:sp>
      <p:sp>
        <p:nvSpPr>
          <p:cNvPr id="23" name="TextBox 22"/>
          <p:cNvSpPr txBox="1"/>
          <p:nvPr/>
        </p:nvSpPr>
        <p:spPr>
          <a:xfrm>
            <a:off x="8238744" y="1865376"/>
            <a:ext cx="3291840" cy="438912"/>
          </a:xfrm>
          <a:prstGeom prst="rect">
            <a:avLst/>
          </a:prstGeom>
          <a:noFill/>
        </p:spPr>
        <p:txBody>
          <a:bodyPr wrap="square" lIns="0" rIns="0" tIns="0" bIns="0" anchor="ctr">
            <a:normAutofit/>
          </a:bodyPr>
          <a:lstStyle/>
          <a:p>
            <a:pPr algn="l">
              <a:spcAft>
                <a:spcPts val="0"/>
              </a:spcAft>
            </a:pPr>
            <a:r>
              <a:rPr sz="1350" b="1">
                <a:solidFill>
                  <a:srgbClr val="17233C"/>
                </a:solidFill>
                <a:latin typeface="Aptos"/>
              </a:rPr>
              <a:t>“Running shoes, size 44”</a:t>
            </a:r>
          </a:p>
        </p:txBody>
      </p:sp>
      <p:sp>
        <p:nvSpPr>
          <p:cNvPr id="24" name="TextBox 23"/>
          <p:cNvSpPr txBox="1"/>
          <p:nvPr/>
        </p:nvSpPr>
        <p:spPr>
          <a:xfrm>
            <a:off x="8238744" y="2423160"/>
            <a:ext cx="3291840" cy="347472"/>
          </a:xfrm>
          <a:prstGeom prst="rect">
            <a:avLst/>
          </a:prstGeom>
          <a:noFill/>
        </p:spPr>
        <p:txBody>
          <a:bodyPr wrap="square" lIns="0" rIns="0" tIns="0" bIns="0" anchor="ctr">
            <a:normAutofit/>
          </a:bodyPr>
          <a:lstStyle/>
          <a:p>
            <a:pPr algn="l">
              <a:spcAft>
                <a:spcPts val="0"/>
              </a:spcAft>
            </a:pPr>
            <a:r>
              <a:rPr sz="950" b="0">
                <a:solidFill>
                  <a:srgbClr val="627086"/>
                </a:solidFill>
                <a:latin typeface="Aptos"/>
              </a:rPr>
              <a:t>Does not substitute size 42.
If size 44 is unavailable, returns no result.</a:t>
            </a:r>
          </a:p>
        </p:txBody>
      </p:sp>
      <p:sp>
        <p:nvSpPr>
          <p:cNvPr id="25" name="Rounded Rectangle 24"/>
          <p:cNvSpPr/>
          <p:nvPr/>
        </p:nvSpPr>
        <p:spPr>
          <a:xfrm>
            <a:off x="502920" y="3108960"/>
            <a:ext cx="3621024" cy="1572768"/>
          </a:xfrm>
          <a:prstGeom prst="roundRect">
            <a:avLst/>
          </a:prstGeom>
          <a:solidFill>
            <a:srgbClr val="EAF4EE"/>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 y="3255264"/>
            <a:ext cx="292608" cy="292608"/>
          </a:xfrm>
          <a:prstGeom prst="ellipse">
            <a:avLst/>
          </a:prstGeom>
          <a:solidFill>
            <a:srgbClr val="2E7D55"/>
          </a:solidFill>
          <a:ln>
            <a:solidFill>
              <a:srgbClr val="2E7D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3255264"/>
            <a:ext cx="292608" cy="292608"/>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4</a:t>
            </a:r>
          </a:p>
        </p:txBody>
      </p:sp>
      <p:sp>
        <p:nvSpPr>
          <p:cNvPr id="28" name="TextBox 27"/>
          <p:cNvSpPr txBox="1"/>
          <p:nvPr/>
        </p:nvSpPr>
        <p:spPr>
          <a:xfrm>
            <a:off x="1051560" y="3255264"/>
            <a:ext cx="2907791" cy="292608"/>
          </a:xfrm>
          <a:prstGeom prst="rect">
            <a:avLst/>
          </a:prstGeom>
          <a:noFill/>
        </p:spPr>
        <p:txBody>
          <a:bodyPr wrap="square" lIns="0" rIns="0" tIns="0" bIns="0" anchor="ctr">
            <a:normAutofit/>
          </a:bodyPr>
          <a:lstStyle/>
          <a:p>
            <a:pPr algn="l">
              <a:spcAft>
                <a:spcPts val="0"/>
              </a:spcAft>
            </a:pPr>
            <a:r>
              <a:rPr sz="919" b="1">
                <a:solidFill>
                  <a:srgbClr val="2E7D55"/>
                </a:solidFill>
                <a:latin typeface="Aptos"/>
              </a:rPr>
              <a:t>NO VARIANT PREFERENCE</a:t>
            </a:r>
          </a:p>
        </p:txBody>
      </p:sp>
      <p:sp>
        <p:nvSpPr>
          <p:cNvPr id="29" name="TextBox 28"/>
          <p:cNvSpPr txBox="1"/>
          <p:nvPr/>
        </p:nvSpPr>
        <p:spPr>
          <a:xfrm>
            <a:off x="667512" y="3630168"/>
            <a:ext cx="3291840" cy="438912"/>
          </a:xfrm>
          <a:prstGeom prst="rect">
            <a:avLst/>
          </a:prstGeom>
          <a:noFill/>
        </p:spPr>
        <p:txBody>
          <a:bodyPr wrap="square" lIns="0" rIns="0" tIns="0" bIns="0" anchor="ctr">
            <a:normAutofit/>
          </a:bodyPr>
          <a:lstStyle/>
          <a:p>
            <a:pPr algn="l">
              <a:spcAft>
                <a:spcPts val="0"/>
              </a:spcAft>
            </a:pPr>
            <a:r>
              <a:rPr sz="1350" b="1">
                <a:solidFill>
                  <a:srgbClr val="17233C"/>
                </a:solidFill>
                <a:latin typeface="Aptos"/>
              </a:rPr>
              <a:t>“MagicToyland Fairy Doll”</a:t>
            </a:r>
          </a:p>
        </p:txBody>
      </p:sp>
      <p:sp>
        <p:nvSpPr>
          <p:cNvPr id="30" name="TextBox 29"/>
          <p:cNvSpPr txBox="1"/>
          <p:nvPr/>
        </p:nvSpPr>
        <p:spPr>
          <a:xfrm>
            <a:off x="667512" y="4187952"/>
            <a:ext cx="3291840" cy="347472"/>
          </a:xfrm>
          <a:prstGeom prst="rect">
            <a:avLst/>
          </a:prstGeom>
          <a:noFill/>
        </p:spPr>
        <p:txBody>
          <a:bodyPr wrap="square" lIns="0" rIns="0" tIns="0" bIns="0" anchor="ctr">
            <a:normAutofit/>
          </a:bodyPr>
          <a:lstStyle/>
          <a:p>
            <a:pPr algn="l">
              <a:spcAft>
                <a:spcPts val="0"/>
              </a:spcAft>
            </a:pPr>
            <a:r>
              <a:rPr sz="950" b="0">
                <a:solidFill>
                  <a:srgbClr val="627086"/>
                </a:solidFill>
                <a:latin typeface="Aptos"/>
              </a:rPr>
              <a:t>Leaves Variant Code blank instead of inventing a preference.</a:t>
            </a:r>
          </a:p>
        </p:txBody>
      </p:sp>
      <p:sp>
        <p:nvSpPr>
          <p:cNvPr id="31" name="Rounded Rectangle 30"/>
          <p:cNvSpPr/>
          <p:nvPr/>
        </p:nvSpPr>
        <p:spPr>
          <a:xfrm>
            <a:off x="4288536" y="3108960"/>
            <a:ext cx="3621024" cy="1572768"/>
          </a:xfrm>
          <a:prstGeom prst="roundRect">
            <a:avLst/>
          </a:prstGeom>
          <a:solidFill>
            <a:srgbClr val="E7F4F2"/>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453128" y="3255264"/>
            <a:ext cx="292608" cy="292608"/>
          </a:xfrm>
          <a:prstGeom prst="ellipse">
            <a:avLst/>
          </a:prstGeom>
          <a:solidFill>
            <a:srgbClr val="17827A"/>
          </a:solidFill>
          <a:ln>
            <a:solidFill>
              <a:srgbClr val="1782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53128" y="3255264"/>
            <a:ext cx="292608" cy="292608"/>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5</a:t>
            </a:r>
          </a:p>
        </p:txBody>
      </p:sp>
      <p:sp>
        <p:nvSpPr>
          <p:cNvPr id="34" name="TextBox 33"/>
          <p:cNvSpPr txBox="1"/>
          <p:nvPr/>
        </p:nvSpPr>
        <p:spPr>
          <a:xfrm>
            <a:off x="4837176" y="3255264"/>
            <a:ext cx="2907791" cy="292608"/>
          </a:xfrm>
          <a:prstGeom prst="rect">
            <a:avLst/>
          </a:prstGeom>
          <a:noFill/>
        </p:spPr>
        <p:txBody>
          <a:bodyPr wrap="square" lIns="0" rIns="0" tIns="0" bIns="0" anchor="ctr">
            <a:normAutofit/>
          </a:bodyPr>
          <a:lstStyle/>
          <a:p>
            <a:pPr algn="l">
              <a:spcAft>
                <a:spcPts val="0"/>
              </a:spcAft>
            </a:pPr>
            <a:r>
              <a:rPr sz="919" b="1">
                <a:solidFill>
                  <a:srgbClr val="17827A"/>
                </a:solidFill>
                <a:latin typeface="Aptos"/>
              </a:rPr>
              <a:t>SAFE ALTERNATIVE</a:t>
            </a:r>
          </a:p>
        </p:txBody>
      </p:sp>
      <p:sp>
        <p:nvSpPr>
          <p:cNvPr id="35" name="TextBox 34"/>
          <p:cNvSpPr txBox="1"/>
          <p:nvPr/>
        </p:nvSpPr>
        <p:spPr>
          <a:xfrm>
            <a:off x="4453128" y="3630168"/>
            <a:ext cx="3291840" cy="438912"/>
          </a:xfrm>
          <a:prstGeom prst="rect">
            <a:avLst/>
          </a:prstGeom>
          <a:noFill/>
        </p:spPr>
        <p:txBody>
          <a:bodyPr wrap="square" lIns="0" rIns="0" tIns="0" bIns="0" anchor="ctr">
            <a:normAutofit/>
          </a:bodyPr>
          <a:lstStyle/>
          <a:p>
            <a:pPr algn="l">
              <a:spcAft>
                <a:spcPts val="0"/>
              </a:spcAft>
            </a:pPr>
            <a:r>
              <a:rPr sz="1350" b="1">
                <a:solidFill>
                  <a:srgbClr val="17233C"/>
                </a:solidFill>
                <a:latin typeface="Aptos"/>
              </a:rPr>
              <a:t>“Blue Fairy Doll”</a:t>
            </a:r>
          </a:p>
        </p:txBody>
      </p:sp>
      <p:sp>
        <p:nvSpPr>
          <p:cNvPr id="36" name="TextBox 35"/>
          <p:cNvSpPr txBox="1"/>
          <p:nvPr/>
        </p:nvSpPr>
        <p:spPr>
          <a:xfrm>
            <a:off x="4453128" y="4187952"/>
            <a:ext cx="3291840" cy="347472"/>
          </a:xfrm>
          <a:prstGeom prst="rect">
            <a:avLst/>
          </a:prstGeom>
          <a:noFill/>
        </p:spPr>
        <p:txBody>
          <a:bodyPr wrap="square" lIns="0" rIns="0" tIns="0" bIns="0" anchor="ctr">
            <a:normAutofit/>
          </a:bodyPr>
          <a:lstStyle/>
          <a:p>
            <a:pPr algn="l">
              <a:spcAft>
                <a:spcPts val="0"/>
              </a:spcAft>
            </a:pPr>
            <a:r>
              <a:rPr sz="950" b="0">
                <a:solidFill>
                  <a:srgbClr val="627086"/>
                </a:solidFill>
                <a:latin typeface="Aptos"/>
              </a:rPr>
              <a:t>If BLUE is unavailable, offers one available color
and waits for confirmation.</a:t>
            </a:r>
          </a:p>
        </p:txBody>
      </p:sp>
      <p:sp>
        <p:nvSpPr>
          <p:cNvPr id="37" name="Rounded Rectangle 36"/>
          <p:cNvSpPr/>
          <p:nvPr/>
        </p:nvSpPr>
        <p:spPr>
          <a:xfrm>
            <a:off x="8074152" y="3108960"/>
            <a:ext cx="3621024" cy="1572768"/>
          </a:xfrm>
          <a:prstGeom prst="roundRect">
            <a:avLst/>
          </a:prstGeom>
          <a:solidFill>
            <a:srgbClr val="EEF1F5"/>
          </a:solidFill>
          <a:ln w="12700">
            <a:solidFill>
              <a:srgbClr val="D6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38744" y="3255264"/>
            <a:ext cx="292608" cy="292608"/>
          </a:xfrm>
          <a:prstGeom prst="ellipse">
            <a:avLst/>
          </a:prstGeom>
          <a:solidFill>
            <a:srgbClr val="6B7588"/>
          </a:solidFill>
          <a:ln>
            <a:solidFill>
              <a:srgbClr val="6B75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38744" y="3255264"/>
            <a:ext cx="292608" cy="292608"/>
          </a:xfrm>
          <a:prstGeom prst="rect">
            <a:avLst/>
          </a:prstGeom>
          <a:noFill/>
        </p:spPr>
        <p:txBody>
          <a:bodyPr wrap="square" lIns="0" rIns="0" tIns="0" bIns="0" anchor="ctr">
            <a:normAutofit/>
          </a:bodyPr>
          <a:lstStyle/>
          <a:p>
            <a:pPr algn="ctr">
              <a:spcAft>
                <a:spcPts val="0"/>
              </a:spcAft>
            </a:pPr>
            <a:r>
              <a:rPr sz="1000" b="1">
                <a:solidFill>
                  <a:srgbClr val="FFFFFF"/>
                </a:solidFill>
                <a:latin typeface="Aptos"/>
              </a:rPr>
              <a:t>6</a:t>
            </a:r>
          </a:p>
        </p:txBody>
      </p:sp>
      <p:sp>
        <p:nvSpPr>
          <p:cNvPr id="40" name="TextBox 39"/>
          <p:cNvSpPr txBox="1"/>
          <p:nvPr/>
        </p:nvSpPr>
        <p:spPr>
          <a:xfrm>
            <a:off x="8622792" y="3255264"/>
            <a:ext cx="2907791" cy="292608"/>
          </a:xfrm>
          <a:prstGeom prst="rect">
            <a:avLst/>
          </a:prstGeom>
          <a:noFill/>
        </p:spPr>
        <p:txBody>
          <a:bodyPr wrap="square" lIns="0" rIns="0" tIns="0" bIns="0" anchor="ctr">
            <a:normAutofit/>
          </a:bodyPr>
          <a:lstStyle/>
          <a:p>
            <a:pPr algn="l">
              <a:spcAft>
                <a:spcPts val="0"/>
              </a:spcAft>
            </a:pPr>
            <a:r>
              <a:rPr sz="919" b="1">
                <a:solidFill>
                  <a:srgbClr val="6B7588"/>
                </a:solidFill>
                <a:latin typeface="Aptos"/>
              </a:rPr>
              <a:t>CUSTOMER RESTRICTION</a:t>
            </a:r>
          </a:p>
        </p:txBody>
      </p:sp>
      <p:sp>
        <p:nvSpPr>
          <p:cNvPr id="41" name="TextBox 40"/>
          <p:cNvSpPr txBox="1"/>
          <p:nvPr/>
        </p:nvSpPr>
        <p:spPr>
          <a:xfrm>
            <a:off x="8238744" y="3630168"/>
            <a:ext cx="3291840" cy="438912"/>
          </a:xfrm>
          <a:prstGeom prst="rect">
            <a:avLst/>
          </a:prstGeom>
          <a:noFill/>
        </p:spPr>
        <p:txBody>
          <a:bodyPr wrap="square" lIns="0" rIns="0" tIns="0" bIns="0" anchor="ctr">
            <a:normAutofit/>
          </a:bodyPr>
          <a:lstStyle/>
          <a:p>
            <a:pPr algn="l">
              <a:spcAft>
                <a:spcPts val="0"/>
              </a:spcAft>
            </a:pPr>
            <a:r>
              <a:rPr sz="1350" b="1">
                <a:solidFill>
                  <a:srgbClr val="17233C"/>
                </a:solidFill>
                <a:latin typeface="Aptos"/>
              </a:rPr>
              <a:t>“Blue Fairy Doll — no other colors”</a:t>
            </a:r>
          </a:p>
        </p:txBody>
      </p:sp>
      <p:sp>
        <p:nvSpPr>
          <p:cNvPr id="42" name="TextBox 41"/>
          <p:cNvSpPr txBox="1"/>
          <p:nvPr/>
        </p:nvSpPr>
        <p:spPr>
          <a:xfrm>
            <a:off x="8238744" y="4187952"/>
            <a:ext cx="3291840" cy="347472"/>
          </a:xfrm>
          <a:prstGeom prst="rect">
            <a:avLst/>
          </a:prstGeom>
          <a:noFill/>
        </p:spPr>
        <p:txBody>
          <a:bodyPr wrap="square" lIns="0" rIns="0" tIns="0" bIns="0" anchor="ctr">
            <a:normAutofit/>
          </a:bodyPr>
          <a:lstStyle/>
          <a:p>
            <a:pPr algn="l">
              <a:spcAft>
                <a:spcPts val="0"/>
              </a:spcAft>
            </a:pPr>
            <a:r>
              <a:rPr sz="950" b="0">
                <a:solidFill>
                  <a:srgbClr val="627086"/>
                </a:solidFill>
                <a:latin typeface="Aptos"/>
              </a:rPr>
              <a:t>Honors the restriction. If BLUE is unavailable,
returns no result.</a:t>
            </a:r>
          </a:p>
        </p:txBody>
      </p:sp>
      <p:sp>
        <p:nvSpPr>
          <p:cNvPr id="43" name="Rounded Rectangle 42"/>
          <p:cNvSpPr/>
          <p:nvPr/>
        </p:nvSpPr>
        <p:spPr>
          <a:xfrm>
            <a:off x="502920" y="4983480"/>
            <a:ext cx="11192256" cy="804672"/>
          </a:xfrm>
          <a:prstGeom prst="roundRect">
            <a:avLst/>
          </a:prstGeom>
          <a:solidFill>
            <a:srgbClr val="17233C"/>
          </a:solidFill>
          <a:ln>
            <a:solidFill>
              <a:srgbClr val="172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8952" y="5148072"/>
            <a:ext cx="1463040" cy="274320"/>
          </a:xfrm>
          <a:prstGeom prst="rect">
            <a:avLst/>
          </a:prstGeom>
          <a:noFill/>
        </p:spPr>
        <p:txBody>
          <a:bodyPr wrap="square" lIns="0" rIns="0" tIns="0" bIns="0" anchor="ctr">
            <a:normAutofit/>
          </a:bodyPr>
          <a:lstStyle/>
          <a:p>
            <a:pPr algn="l">
              <a:spcAft>
                <a:spcPts val="0"/>
              </a:spcAft>
            </a:pPr>
            <a:r>
              <a:rPr sz="1000" b="1">
                <a:solidFill>
                  <a:srgbClr val="FFFFFF"/>
                </a:solidFill>
                <a:latin typeface="Aptos"/>
              </a:rPr>
              <a:t>BUSINESS IMPACT</a:t>
            </a:r>
          </a:p>
        </p:txBody>
      </p:sp>
      <p:sp>
        <p:nvSpPr>
          <p:cNvPr id="45" name="TextBox 44"/>
          <p:cNvSpPr txBox="1"/>
          <p:nvPr/>
        </p:nvSpPr>
        <p:spPr>
          <a:xfrm>
            <a:off x="2468880" y="5148072"/>
            <a:ext cx="2340864" cy="274320"/>
          </a:xfrm>
          <a:prstGeom prst="rect">
            <a:avLst/>
          </a:prstGeom>
          <a:noFill/>
        </p:spPr>
        <p:txBody>
          <a:bodyPr wrap="square" lIns="0" rIns="0" tIns="0" bIns="0" anchor="ctr">
            <a:normAutofit/>
          </a:bodyPr>
          <a:lstStyle/>
          <a:p>
            <a:pPr algn="ctr">
              <a:spcAft>
                <a:spcPts val="0"/>
              </a:spcAft>
            </a:pPr>
            <a:r>
              <a:rPr sz="1200" b="1">
                <a:solidFill>
                  <a:srgbClr val="FFFFFF"/>
                </a:solidFill>
                <a:latin typeface="Aptos"/>
              </a:rPr>
              <a:t>Fewer clarification loops</a:t>
            </a:r>
          </a:p>
        </p:txBody>
      </p:sp>
      <p:sp>
        <p:nvSpPr>
          <p:cNvPr id="46" name="TextBox 45"/>
          <p:cNvSpPr txBox="1"/>
          <p:nvPr/>
        </p:nvSpPr>
        <p:spPr>
          <a:xfrm>
            <a:off x="4919472" y="5148072"/>
            <a:ext cx="3054096" cy="274320"/>
          </a:xfrm>
          <a:prstGeom prst="rect">
            <a:avLst/>
          </a:prstGeom>
          <a:noFill/>
        </p:spPr>
        <p:txBody>
          <a:bodyPr wrap="square" lIns="0" rIns="0" tIns="0" bIns="0" anchor="ctr">
            <a:normAutofit/>
          </a:bodyPr>
          <a:lstStyle/>
          <a:p>
            <a:pPr algn="ctr">
              <a:spcAft>
                <a:spcPts val="0"/>
              </a:spcAft>
            </a:pPr>
            <a:r>
              <a:rPr sz="1200" b="1">
                <a:solidFill>
                  <a:srgbClr val="FFFFFF"/>
                </a:solidFill>
                <a:latin typeface="Aptos"/>
              </a:rPr>
              <a:t>Correct variant pricing &amp; availability</a:t>
            </a:r>
          </a:p>
        </p:txBody>
      </p:sp>
      <p:sp>
        <p:nvSpPr>
          <p:cNvPr id="47" name="TextBox 46"/>
          <p:cNvSpPr txBox="1"/>
          <p:nvPr/>
        </p:nvSpPr>
        <p:spPr>
          <a:xfrm>
            <a:off x="8385048" y="5148072"/>
            <a:ext cx="2514600" cy="274320"/>
          </a:xfrm>
          <a:prstGeom prst="rect">
            <a:avLst/>
          </a:prstGeom>
          <a:noFill/>
        </p:spPr>
        <p:txBody>
          <a:bodyPr wrap="square" lIns="0" rIns="0" tIns="0" bIns="0" anchor="ctr">
            <a:normAutofit/>
          </a:bodyPr>
          <a:lstStyle/>
          <a:p>
            <a:pPr algn="ctr">
              <a:spcAft>
                <a:spcPts val="0"/>
              </a:spcAft>
            </a:pPr>
            <a:r>
              <a:rPr sz="1200" b="1">
                <a:solidFill>
                  <a:srgbClr val="FFFFFF"/>
                </a:solidFill>
                <a:latin typeface="Aptos"/>
              </a:rPr>
              <a:t>No silent guessing</a:t>
            </a:r>
          </a:p>
        </p:txBody>
      </p:sp>
      <p:sp>
        <p:nvSpPr>
          <p:cNvPr id="48" name="TextBox 47"/>
          <p:cNvSpPr txBox="1"/>
          <p:nvPr/>
        </p:nvSpPr>
        <p:spPr>
          <a:xfrm>
            <a:off x="502920" y="6016752"/>
            <a:ext cx="11192256" cy="182880"/>
          </a:xfrm>
          <a:prstGeom prst="rect">
            <a:avLst/>
          </a:prstGeom>
          <a:noFill/>
        </p:spPr>
        <p:txBody>
          <a:bodyPr wrap="square" lIns="0" rIns="0" tIns="0" bIns="0" anchor="ctr">
            <a:normAutofit/>
          </a:bodyPr>
          <a:lstStyle/>
          <a:p>
            <a:pPr algn="r">
              <a:spcAft>
                <a:spcPts val="0"/>
              </a:spcAft>
            </a:pPr>
            <a:r>
              <a:rPr sz="900" b="0">
                <a:solidFill>
                  <a:srgbClr val="627086"/>
                </a:solidFill>
                <a:latin typeface="Aptos"/>
              </a:rPr>
              <a:t>Scenarios reflect supported variant-selection behaviors.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Changed in Item Search</dc:title>
  <dc:subject>Sales Order Agent variant-aware item-search improvements</dc:subject>
  <dc:creator>Sales Order Agent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